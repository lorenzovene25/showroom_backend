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92" autoAdjust="0"/>
    <p:restoredTop sz="94610"/>
  </p:normalViewPr>
  <p:slideViewPr>
    <p:cSldViewPr snapToGrid="0" snapToObjects="1">
      <p:cViewPr varScale="1">
        <p:scale>
          <a:sx n="156" d="100"/>
          <a:sy n="156" d="100"/>
        </p:scale>
        <p:origin x="156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03591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9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5943600" y="2286000"/>
            <a:ext cx="4572000" cy="4572000"/>
          </a:xfrm>
          <a:prstGeom prst="ellipse">
            <a:avLst/>
          </a:prstGeom>
          <a:solidFill>
            <a:srgbClr val="3A2418">
              <a:alpha val="60000"/>
            </a:srgbClr>
          </a:solidFill>
          <a:ln w="12700">
            <a:solidFill>
              <a:srgbClr val="3A241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VOYAGE  •  RETROSPETTIVA DELL'ANNO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Robert</a:t>
            </a:r>
            <a:endParaRPr lang="en-US" sz="7200" dirty="0"/>
          </a:p>
          <a:p>
            <a:pPr marL="0" indent="0">
              <a:buNone/>
            </a:pPr>
            <a:r>
              <a:rPr lang="en-US" sz="7200" b="1" i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Doisneau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457200" y="333756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4D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  &amp;  Blog / FAQ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24222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365760" y="4462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Gab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47365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560320" y="4462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Nev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60320" y="47365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Architect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754880" y="4462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47365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Front-End Lead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949440" y="4462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Lollo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49440" y="47365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Back-End Lead</a:t>
            </a:r>
            <a:endParaRPr lang="en-US" sz="900" dirty="0"/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DF424461-B800-7203-D413-343D81B1A782}"/>
              </a:ext>
            </a:extLst>
          </p:cNvPr>
          <p:cNvSpPr/>
          <p:nvPr/>
        </p:nvSpPr>
        <p:spPr>
          <a:xfrm>
            <a:off x="-6902245" y="3529583"/>
            <a:ext cx="6088429" cy="5732403"/>
          </a:xfrm>
          <a:prstGeom prst="ellipse">
            <a:avLst/>
          </a:prstGeom>
          <a:solidFill>
            <a:srgbClr val="3A2418">
              <a:alpha val="50000"/>
            </a:srgbClr>
          </a:solidFill>
          <a:ln w="12700">
            <a:solidFill>
              <a:srgbClr val="3A241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64AB553F-375E-6248-CD5B-D0878CE89879}"/>
              </a:ext>
            </a:extLst>
          </p:cNvPr>
          <p:cNvSpPr/>
          <p:nvPr/>
        </p:nvSpPr>
        <p:spPr>
          <a:xfrm>
            <a:off x="9692640" y="-1070143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A0076168-E16C-B02B-68C5-2E6A0428D897}"/>
              </a:ext>
            </a:extLst>
          </p:cNvPr>
          <p:cNvSpPr/>
          <p:nvPr/>
        </p:nvSpPr>
        <p:spPr>
          <a:xfrm>
            <a:off x="9601200" y="1701079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6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Landing</a:t>
            </a:r>
            <a:endParaRPr lang="en-US" sz="5600" dirty="0"/>
          </a:p>
          <a:p>
            <a:pPr marL="0" indent="0" algn="r">
              <a:buNone/>
            </a:pPr>
            <a:r>
              <a:rPr lang="en-US" sz="5600" b="1" i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</a:t>
            </a:r>
            <a:endParaRPr lang="en-US" sz="56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9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914400"/>
            <a:ext cx="4572000" cy="4572000"/>
          </a:xfrm>
          <a:prstGeom prst="ellipse">
            <a:avLst/>
          </a:prstGeom>
          <a:solidFill>
            <a:srgbClr val="3A2418">
              <a:alpha val="50000"/>
            </a:srgbClr>
          </a:solidFill>
          <a:ln w="12700">
            <a:solidFill>
              <a:srgbClr val="3A241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02920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0" y="1600200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6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Landing</a:t>
            </a:r>
            <a:endParaRPr lang="en-US" sz="5600" dirty="0"/>
          </a:p>
          <a:p>
            <a:pPr marL="0" indent="0" algn="r">
              <a:buNone/>
            </a:pPr>
            <a:r>
              <a:rPr lang="en-US" sz="5600" b="1" i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</a:t>
            </a:r>
            <a:endParaRPr lang="en-US" sz="5600" dirty="0"/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E428805D-EABD-D9D2-A303-F821ADA6FF77}"/>
              </a:ext>
            </a:extLst>
          </p:cNvPr>
          <p:cNvSpPr/>
          <p:nvPr/>
        </p:nvSpPr>
        <p:spPr>
          <a:xfrm>
            <a:off x="-8150667" y="-50451323"/>
            <a:ext cx="67371" cy="48623850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Shape 1">
            <a:extLst>
              <a:ext uri="{FF2B5EF4-FFF2-40B4-BE49-F238E27FC236}">
                <a16:creationId xmlns:a16="http://schemas.microsoft.com/office/drawing/2014/main" id="{FDC2B4D5-970F-4F50-0C25-7827C7F6758E}"/>
              </a:ext>
            </a:extLst>
          </p:cNvPr>
          <p:cNvSpPr/>
          <p:nvPr/>
        </p:nvSpPr>
        <p:spPr>
          <a:xfrm>
            <a:off x="12435840" y="-4319213"/>
            <a:ext cx="4572000" cy="4572000"/>
          </a:xfrm>
          <a:prstGeom prst="ellipse">
            <a:avLst/>
          </a:prstGeom>
          <a:solidFill>
            <a:srgbClr val="3A2418">
              <a:alpha val="60000"/>
            </a:srgbClr>
          </a:solidFill>
          <a:ln w="12700">
            <a:solidFill>
              <a:srgbClr val="3A241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C12645DD-828F-BF13-B2A8-489B6F3928C9}"/>
              </a:ext>
            </a:extLst>
          </p:cNvPr>
          <p:cNvSpPr/>
          <p:nvPr/>
        </p:nvSpPr>
        <p:spPr>
          <a:xfrm>
            <a:off x="-9556955" y="-9173497"/>
            <a:ext cx="10105595" cy="30254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VOYAGE  •  RETROSPETTIVA DELL'ANNO</a:t>
            </a:r>
            <a:endParaRPr lang="en-US" sz="900" dirty="0"/>
          </a:p>
        </p:txBody>
      </p:sp>
      <p:sp>
        <p:nvSpPr>
          <p:cNvPr id="22" name="Text 3">
            <a:extLst>
              <a:ext uri="{FF2B5EF4-FFF2-40B4-BE49-F238E27FC236}">
                <a16:creationId xmlns:a16="http://schemas.microsoft.com/office/drawing/2014/main" id="{069D941E-079F-D033-FCB1-C3A8E7A22280}"/>
              </a:ext>
            </a:extLst>
          </p:cNvPr>
          <p:cNvSpPr/>
          <p:nvPr/>
        </p:nvSpPr>
        <p:spPr>
          <a:xfrm>
            <a:off x="-9348511" y="-26199877"/>
            <a:ext cx="8982751" cy="2247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Robert</a:t>
            </a:r>
            <a:endParaRPr lang="en-US" sz="7200" dirty="0"/>
          </a:p>
          <a:p>
            <a:pPr marL="0" indent="0">
              <a:buNone/>
            </a:pPr>
            <a:r>
              <a:rPr lang="en-US" sz="7200" b="1" i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Doisneau</a:t>
            </a:r>
            <a:endParaRPr lang="en-US" sz="7200" dirty="0"/>
          </a:p>
        </p:txBody>
      </p:sp>
      <p:sp>
        <p:nvSpPr>
          <p:cNvPr id="23" name="Text 4">
            <a:extLst>
              <a:ext uri="{FF2B5EF4-FFF2-40B4-BE49-F238E27FC236}">
                <a16:creationId xmlns:a16="http://schemas.microsoft.com/office/drawing/2014/main" id="{1D9F970F-F139-9A2F-104C-4D3B98DA8A3C}"/>
              </a:ext>
            </a:extLst>
          </p:cNvPr>
          <p:cNvSpPr/>
          <p:nvPr/>
        </p:nvSpPr>
        <p:spPr>
          <a:xfrm>
            <a:off x="-9140067" y="-6879946"/>
            <a:ext cx="7859907" cy="3630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4D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  &amp;  Blog / FAQ</a:t>
            </a:r>
            <a:endParaRPr lang="en-US" sz="1600" dirty="0"/>
          </a:p>
        </p:txBody>
      </p:sp>
      <p:sp>
        <p:nvSpPr>
          <p:cNvPr id="24" name="Shape 5">
            <a:extLst>
              <a:ext uri="{FF2B5EF4-FFF2-40B4-BE49-F238E27FC236}">
                <a16:creationId xmlns:a16="http://schemas.microsoft.com/office/drawing/2014/main" id="{B4C56983-D2A8-5D4D-7993-3B5A66886693}"/>
              </a:ext>
            </a:extLst>
          </p:cNvPr>
          <p:cNvSpPr/>
          <p:nvPr/>
        </p:nvSpPr>
        <p:spPr>
          <a:xfrm>
            <a:off x="548640" y="7152082"/>
            <a:ext cx="9144000" cy="754380"/>
          </a:xfrm>
          <a:prstGeom prst="rect">
            <a:avLst/>
          </a:prstGeom>
          <a:solidFill>
            <a:srgbClr val="24222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5" name="Text 6">
            <a:extLst>
              <a:ext uri="{FF2B5EF4-FFF2-40B4-BE49-F238E27FC236}">
                <a16:creationId xmlns:a16="http://schemas.microsoft.com/office/drawing/2014/main" id="{FA7D6056-08D8-05C2-B044-3E120E660469}"/>
              </a:ext>
            </a:extLst>
          </p:cNvPr>
          <p:cNvSpPr/>
          <p:nvPr/>
        </p:nvSpPr>
        <p:spPr>
          <a:xfrm>
            <a:off x="914400" y="722523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Gab</a:t>
            </a:r>
            <a:endParaRPr lang="en-US" sz="1300" dirty="0"/>
          </a:p>
        </p:txBody>
      </p:sp>
      <p:sp>
        <p:nvSpPr>
          <p:cNvPr id="26" name="Text 7">
            <a:extLst>
              <a:ext uri="{FF2B5EF4-FFF2-40B4-BE49-F238E27FC236}">
                <a16:creationId xmlns:a16="http://schemas.microsoft.com/office/drawing/2014/main" id="{3279CC05-DBB2-C7CC-B9F0-DC9D2851E9FC}"/>
              </a:ext>
            </a:extLst>
          </p:cNvPr>
          <p:cNvSpPr/>
          <p:nvPr/>
        </p:nvSpPr>
        <p:spPr>
          <a:xfrm>
            <a:off x="914400" y="749955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Manager</a:t>
            </a:r>
            <a:endParaRPr lang="en-US" sz="900" dirty="0"/>
          </a:p>
        </p:txBody>
      </p:sp>
      <p:sp>
        <p:nvSpPr>
          <p:cNvPr id="27" name="Text 8">
            <a:extLst>
              <a:ext uri="{FF2B5EF4-FFF2-40B4-BE49-F238E27FC236}">
                <a16:creationId xmlns:a16="http://schemas.microsoft.com/office/drawing/2014/main" id="{E08316EA-B7F4-7B83-9BCE-08DA7457D6FE}"/>
              </a:ext>
            </a:extLst>
          </p:cNvPr>
          <p:cNvSpPr/>
          <p:nvPr/>
        </p:nvSpPr>
        <p:spPr>
          <a:xfrm>
            <a:off x="3108960" y="722523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Nev</a:t>
            </a:r>
            <a:endParaRPr lang="en-US" sz="1300" dirty="0"/>
          </a:p>
        </p:txBody>
      </p:sp>
      <p:sp>
        <p:nvSpPr>
          <p:cNvPr id="28" name="Text 9">
            <a:extLst>
              <a:ext uri="{FF2B5EF4-FFF2-40B4-BE49-F238E27FC236}">
                <a16:creationId xmlns:a16="http://schemas.microsoft.com/office/drawing/2014/main" id="{8C4C8658-B480-D157-1ABF-067AF0F8A8F6}"/>
              </a:ext>
            </a:extLst>
          </p:cNvPr>
          <p:cNvSpPr/>
          <p:nvPr/>
        </p:nvSpPr>
        <p:spPr>
          <a:xfrm>
            <a:off x="3108960" y="749955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Architect</a:t>
            </a:r>
            <a:endParaRPr lang="en-US" sz="900" dirty="0"/>
          </a:p>
        </p:txBody>
      </p:sp>
      <p:sp>
        <p:nvSpPr>
          <p:cNvPr id="29" name="Text 10">
            <a:extLst>
              <a:ext uri="{FF2B5EF4-FFF2-40B4-BE49-F238E27FC236}">
                <a16:creationId xmlns:a16="http://schemas.microsoft.com/office/drawing/2014/main" id="{2732DA42-D07D-F416-FDC3-E0735FC12478}"/>
              </a:ext>
            </a:extLst>
          </p:cNvPr>
          <p:cNvSpPr/>
          <p:nvPr/>
        </p:nvSpPr>
        <p:spPr>
          <a:xfrm>
            <a:off x="5303520" y="722523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Ruben</a:t>
            </a:r>
            <a:endParaRPr lang="en-US" sz="1300" dirty="0"/>
          </a:p>
        </p:txBody>
      </p:sp>
      <p:sp>
        <p:nvSpPr>
          <p:cNvPr id="30" name="Text 11">
            <a:extLst>
              <a:ext uri="{FF2B5EF4-FFF2-40B4-BE49-F238E27FC236}">
                <a16:creationId xmlns:a16="http://schemas.microsoft.com/office/drawing/2014/main" id="{2B2EF423-8973-FAC4-C140-19F066C13D05}"/>
              </a:ext>
            </a:extLst>
          </p:cNvPr>
          <p:cNvSpPr/>
          <p:nvPr/>
        </p:nvSpPr>
        <p:spPr>
          <a:xfrm>
            <a:off x="5303520" y="749955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Front-End Lead</a:t>
            </a:r>
            <a:endParaRPr lang="en-US" sz="900" dirty="0"/>
          </a:p>
        </p:txBody>
      </p:sp>
      <p:sp>
        <p:nvSpPr>
          <p:cNvPr id="31" name="Text 12">
            <a:extLst>
              <a:ext uri="{FF2B5EF4-FFF2-40B4-BE49-F238E27FC236}">
                <a16:creationId xmlns:a16="http://schemas.microsoft.com/office/drawing/2014/main" id="{6004AF7A-293F-F3D7-9C81-2AE293EE13CD}"/>
              </a:ext>
            </a:extLst>
          </p:cNvPr>
          <p:cNvSpPr/>
          <p:nvPr/>
        </p:nvSpPr>
        <p:spPr>
          <a:xfrm>
            <a:off x="7498080" y="722523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Lollo</a:t>
            </a:r>
            <a:endParaRPr lang="en-US" sz="1300" dirty="0"/>
          </a:p>
        </p:txBody>
      </p:sp>
      <p:sp>
        <p:nvSpPr>
          <p:cNvPr id="32" name="Text 13">
            <a:extLst>
              <a:ext uri="{FF2B5EF4-FFF2-40B4-BE49-F238E27FC236}">
                <a16:creationId xmlns:a16="http://schemas.microsoft.com/office/drawing/2014/main" id="{94FD518F-1266-1F51-D923-2403BCF454D8}"/>
              </a:ext>
            </a:extLst>
          </p:cNvPr>
          <p:cNvSpPr/>
          <p:nvPr/>
        </p:nvSpPr>
        <p:spPr>
          <a:xfrm>
            <a:off x="7498080" y="749955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Back-End Lead</a:t>
            </a:r>
            <a:endParaRPr lang="en-US" sz="900" dirty="0"/>
          </a:p>
        </p:txBody>
      </p:sp>
      <p:sp>
        <p:nvSpPr>
          <p:cNvPr id="33" name="Shape 0">
            <a:extLst>
              <a:ext uri="{FF2B5EF4-FFF2-40B4-BE49-F238E27FC236}">
                <a16:creationId xmlns:a16="http://schemas.microsoft.com/office/drawing/2014/main" id="{59D210B7-209A-E9C4-4561-316072353A23}"/>
              </a:ext>
            </a:extLst>
          </p:cNvPr>
          <p:cNvSpPr/>
          <p:nvPr/>
        </p:nvSpPr>
        <p:spPr>
          <a:xfrm>
            <a:off x="-4602901" y="-9561248"/>
            <a:ext cx="12832501" cy="718263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4" name="Shape 1">
            <a:extLst>
              <a:ext uri="{FF2B5EF4-FFF2-40B4-BE49-F238E27FC236}">
                <a16:creationId xmlns:a16="http://schemas.microsoft.com/office/drawing/2014/main" id="{E8444834-FC86-F4F4-62B0-4F7FA964286B}"/>
              </a:ext>
            </a:extLst>
          </p:cNvPr>
          <p:cNvSpPr/>
          <p:nvPr/>
        </p:nvSpPr>
        <p:spPr>
          <a:xfrm>
            <a:off x="10437349" y="-269889"/>
            <a:ext cx="1539900" cy="3830734"/>
          </a:xfrm>
          <a:prstGeom prst="rect">
            <a:avLst/>
          </a:prstGeom>
          <a:solidFill>
            <a:srgbClr val="C27A48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5" name="Text 2">
            <a:extLst>
              <a:ext uri="{FF2B5EF4-FFF2-40B4-BE49-F238E27FC236}">
                <a16:creationId xmlns:a16="http://schemas.microsoft.com/office/drawing/2014/main" id="{62174B4D-FA36-E96B-2321-0247C3A38167}"/>
              </a:ext>
            </a:extLst>
          </p:cNvPr>
          <p:cNvSpPr/>
          <p:nvPr/>
        </p:nvSpPr>
        <p:spPr>
          <a:xfrm>
            <a:off x="6506820" y="-12253095"/>
            <a:ext cx="1539900" cy="3830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</a:t>
            </a:r>
            <a:endParaRPr lang="en-US" sz="1000" dirty="0"/>
          </a:p>
        </p:txBody>
      </p:sp>
      <p:sp>
        <p:nvSpPr>
          <p:cNvPr id="36" name="Text 3">
            <a:extLst>
              <a:ext uri="{FF2B5EF4-FFF2-40B4-BE49-F238E27FC236}">
                <a16:creationId xmlns:a16="http://schemas.microsoft.com/office/drawing/2014/main" id="{74A0FB06-E7A8-F669-7207-89E28E45FBF9}"/>
              </a:ext>
            </a:extLst>
          </p:cNvPr>
          <p:cNvSpPr/>
          <p:nvPr/>
        </p:nvSpPr>
        <p:spPr>
          <a:xfrm>
            <a:off x="-3039151" y="-11958810"/>
            <a:ext cx="8982751" cy="3591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</a:t>
            </a:r>
            <a:endParaRPr lang="en-US" sz="850" dirty="0"/>
          </a:p>
        </p:txBody>
      </p:sp>
      <p:sp>
        <p:nvSpPr>
          <p:cNvPr id="37" name="Text 4">
            <a:extLst>
              <a:ext uri="{FF2B5EF4-FFF2-40B4-BE49-F238E27FC236}">
                <a16:creationId xmlns:a16="http://schemas.microsoft.com/office/drawing/2014/main" id="{48F76E03-3F0A-49F6-0DBE-494292C03366}"/>
              </a:ext>
            </a:extLst>
          </p:cNvPr>
          <p:cNvSpPr/>
          <p:nvPr/>
        </p:nvSpPr>
        <p:spPr>
          <a:xfrm>
            <a:off x="-2301451" y="-18300188"/>
            <a:ext cx="6416251" cy="107739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Hero &amp; </a:t>
            </a:r>
            <a:r>
              <a:rPr lang="en-US" sz="3400" b="1" i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Countdown</a:t>
            </a:r>
            <a:endParaRPr lang="en-US" sz="3400" dirty="0"/>
          </a:p>
        </p:txBody>
      </p:sp>
      <p:sp>
        <p:nvSpPr>
          <p:cNvPr id="38" name="Shape 5">
            <a:extLst>
              <a:ext uri="{FF2B5EF4-FFF2-40B4-BE49-F238E27FC236}">
                <a16:creationId xmlns:a16="http://schemas.microsoft.com/office/drawing/2014/main" id="{C76BCBC4-D185-1056-6FCA-46271DE3C447}"/>
              </a:ext>
            </a:extLst>
          </p:cNvPr>
          <p:cNvSpPr/>
          <p:nvPr/>
        </p:nvSpPr>
        <p:spPr>
          <a:xfrm>
            <a:off x="-10676978" y="640779"/>
            <a:ext cx="7314345" cy="4832326"/>
          </a:xfrm>
          <a:prstGeom prst="rect">
            <a:avLst/>
          </a:prstGeom>
          <a:solidFill>
            <a:srgbClr val="2E2B28"/>
          </a:solidFill>
          <a:ln w="12700">
            <a:solidFill>
              <a:srgbClr val="24222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9" name="Text 6">
            <a:extLst>
              <a:ext uri="{FF2B5EF4-FFF2-40B4-BE49-F238E27FC236}">
                <a16:creationId xmlns:a16="http://schemas.microsoft.com/office/drawing/2014/main" id="{DE2DB071-AD0C-F157-FEC9-82CF3BD6DBED}"/>
              </a:ext>
            </a:extLst>
          </p:cNvPr>
          <p:cNvSpPr/>
          <p:nvPr/>
        </p:nvSpPr>
        <p:spPr>
          <a:xfrm>
            <a:off x="-10676978" y="1829499"/>
            <a:ext cx="7314345" cy="805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Hero + Countdown ]</a:t>
            </a:r>
            <a:endParaRPr lang="en-US" sz="1100" dirty="0"/>
          </a:p>
        </p:txBody>
      </p:sp>
      <p:sp>
        <p:nvSpPr>
          <p:cNvPr id="40" name="Shape 7">
            <a:extLst>
              <a:ext uri="{FF2B5EF4-FFF2-40B4-BE49-F238E27FC236}">
                <a16:creationId xmlns:a16="http://schemas.microsoft.com/office/drawing/2014/main" id="{AF463806-D4AA-8798-E90C-615F0175702D}"/>
              </a:ext>
            </a:extLst>
          </p:cNvPr>
          <p:cNvSpPr/>
          <p:nvPr/>
        </p:nvSpPr>
        <p:spPr>
          <a:xfrm>
            <a:off x="13636358" y="-11480046"/>
            <a:ext cx="7770925" cy="15056604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1" name="Shape 8">
            <a:extLst>
              <a:ext uri="{FF2B5EF4-FFF2-40B4-BE49-F238E27FC236}">
                <a16:creationId xmlns:a16="http://schemas.microsoft.com/office/drawing/2014/main" id="{C4719A25-40C0-1BBF-9A69-24F80B92CDDF}"/>
              </a:ext>
            </a:extLst>
          </p:cNvPr>
          <p:cNvSpPr/>
          <p:nvPr/>
        </p:nvSpPr>
        <p:spPr>
          <a:xfrm>
            <a:off x="13636359" y="-11480046"/>
            <a:ext cx="141290" cy="15056604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2" name="Text 9">
            <a:extLst>
              <a:ext uri="{FF2B5EF4-FFF2-40B4-BE49-F238E27FC236}">
                <a16:creationId xmlns:a16="http://schemas.microsoft.com/office/drawing/2014/main" id="{93AE7970-CA8E-A95F-732D-040E70489ED3}"/>
              </a:ext>
            </a:extLst>
          </p:cNvPr>
          <p:cNvSpPr/>
          <p:nvPr/>
        </p:nvSpPr>
        <p:spPr>
          <a:xfrm>
            <a:off x="13819238" y="-914400"/>
            <a:ext cx="7064477" cy="3832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</a:rPr>
              <a:t>Title</a:t>
            </a:r>
            <a:endParaRPr lang="en-US" sz="1200" dirty="0"/>
          </a:p>
        </p:txBody>
      </p:sp>
      <p:sp>
        <p:nvSpPr>
          <p:cNvPr id="43" name="Text 10">
            <a:extLst>
              <a:ext uri="{FF2B5EF4-FFF2-40B4-BE49-F238E27FC236}">
                <a16:creationId xmlns:a16="http://schemas.microsoft.com/office/drawing/2014/main" id="{408D874A-8E32-C1A9-EFD7-F0A1974A78CD}"/>
              </a:ext>
            </a:extLst>
          </p:cNvPr>
          <p:cNvSpPr/>
          <p:nvPr/>
        </p:nvSpPr>
        <p:spPr>
          <a:xfrm>
            <a:off x="13819238" y="-4070616"/>
            <a:ext cx="7064477" cy="7528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44" name="Shape 11">
            <a:extLst>
              <a:ext uri="{FF2B5EF4-FFF2-40B4-BE49-F238E27FC236}">
                <a16:creationId xmlns:a16="http://schemas.microsoft.com/office/drawing/2014/main" id="{A46E978F-1F44-3F33-F803-D1E7A14807FF}"/>
              </a:ext>
            </a:extLst>
          </p:cNvPr>
          <p:cNvSpPr/>
          <p:nvPr/>
        </p:nvSpPr>
        <p:spPr>
          <a:xfrm>
            <a:off x="13636358" y="-10309614"/>
            <a:ext cx="7770925" cy="15056604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5" name="Shape 12">
            <a:extLst>
              <a:ext uri="{FF2B5EF4-FFF2-40B4-BE49-F238E27FC236}">
                <a16:creationId xmlns:a16="http://schemas.microsoft.com/office/drawing/2014/main" id="{1C2E71AE-7D37-62CE-12AF-22CF8507E655}"/>
              </a:ext>
            </a:extLst>
          </p:cNvPr>
          <p:cNvSpPr/>
          <p:nvPr/>
        </p:nvSpPr>
        <p:spPr>
          <a:xfrm>
            <a:off x="13636359" y="-10309614"/>
            <a:ext cx="141290" cy="15056604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6" name="Text 13">
            <a:extLst>
              <a:ext uri="{FF2B5EF4-FFF2-40B4-BE49-F238E27FC236}">
                <a16:creationId xmlns:a16="http://schemas.microsoft.com/office/drawing/2014/main" id="{07DD2418-3DC6-D8F3-8AA8-33886F22B61B}"/>
              </a:ext>
            </a:extLst>
          </p:cNvPr>
          <p:cNvSpPr/>
          <p:nvPr/>
        </p:nvSpPr>
        <p:spPr>
          <a:xfrm>
            <a:off x="13819238" y="256032"/>
            <a:ext cx="7064477" cy="3832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Countdown live</a:t>
            </a:r>
            <a:endParaRPr lang="en-US" sz="1200" dirty="0"/>
          </a:p>
        </p:txBody>
      </p:sp>
      <p:sp>
        <p:nvSpPr>
          <p:cNvPr id="47" name="Text 14">
            <a:extLst>
              <a:ext uri="{FF2B5EF4-FFF2-40B4-BE49-F238E27FC236}">
                <a16:creationId xmlns:a16="http://schemas.microsoft.com/office/drawing/2014/main" id="{D002E6F5-7F39-0AD7-895A-BB237B71FFAD}"/>
              </a:ext>
            </a:extLst>
          </p:cNvPr>
          <p:cNvSpPr/>
          <p:nvPr/>
        </p:nvSpPr>
        <p:spPr>
          <a:xfrm>
            <a:off x="13819238" y="-2900184"/>
            <a:ext cx="7064477" cy="7528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"Ultima chiamata per Parigi" · setInterval JS · target 6 apr 2026</a:t>
            </a:r>
            <a:endParaRPr lang="en-US" sz="900" dirty="0"/>
          </a:p>
        </p:txBody>
      </p:sp>
      <p:sp>
        <p:nvSpPr>
          <p:cNvPr id="48" name="Shape 15">
            <a:extLst>
              <a:ext uri="{FF2B5EF4-FFF2-40B4-BE49-F238E27FC236}">
                <a16:creationId xmlns:a16="http://schemas.microsoft.com/office/drawing/2014/main" id="{1458CDA3-9730-794A-F963-EEAD55442755}"/>
              </a:ext>
            </a:extLst>
          </p:cNvPr>
          <p:cNvSpPr/>
          <p:nvPr/>
        </p:nvSpPr>
        <p:spPr>
          <a:xfrm>
            <a:off x="13636358" y="-9139182"/>
            <a:ext cx="7770925" cy="15056604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9" name="Shape 16">
            <a:extLst>
              <a:ext uri="{FF2B5EF4-FFF2-40B4-BE49-F238E27FC236}">
                <a16:creationId xmlns:a16="http://schemas.microsoft.com/office/drawing/2014/main" id="{287A9BB9-7E55-E1A5-5D8C-10364CA41173}"/>
              </a:ext>
            </a:extLst>
          </p:cNvPr>
          <p:cNvSpPr/>
          <p:nvPr/>
        </p:nvSpPr>
        <p:spPr>
          <a:xfrm>
            <a:off x="13636359" y="-9139182"/>
            <a:ext cx="141290" cy="15056604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0" name="Text 17">
            <a:extLst>
              <a:ext uri="{FF2B5EF4-FFF2-40B4-BE49-F238E27FC236}">
                <a16:creationId xmlns:a16="http://schemas.microsoft.com/office/drawing/2014/main" id="{A706E853-C214-AFFB-3918-66903E4B73F3}"/>
              </a:ext>
            </a:extLst>
          </p:cNvPr>
          <p:cNvSpPr/>
          <p:nvPr/>
        </p:nvSpPr>
        <p:spPr>
          <a:xfrm>
            <a:off x="13819238" y="1426464"/>
            <a:ext cx="7064477" cy="3832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Info cards</a:t>
            </a:r>
            <a:endParaRPr lang="en-US" sz="1200" dirty="0"/>
          </a:p>
        </p:txBody>
      </p:sp>
      <p:sp>
        <p:nvSpPr>
          <p:cNvPr id="51" name="Text 18">
            <a:extLst>
              <a:ext uri="{FF2B5EF4-FFF2-40B4-BE49-F238E27FC236}">
                <a16:creationId xmlns:a16="http://schemas.microsoft.com/office/drawing/2014/main" id="{F6C11426-5FF1-4BBD-B768-3A574C384437}"/>
              </a:ext>
            </a:extLst>
          </p:cNvPr>
          <p:cNvSpPr/>
          <p:nvPr/>
        </p:nvSpPr>
        <p:spPr>
          <a:xfrm>
            <a:off x="13819238" y="-1729752"/>
            <a:ext cx="7064477" cy="7528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· Sede · Orari · Tariffe — floating card identiche alla home</a:t>
            </a:r>
            <a:endParaRPr lang="en-US" sz="900" dirty="0"/>
          </a:p>
        </p:txBody>
      </p:sp>
      <p:sp>
        <p:nvSpPr>
          <p:cNvPr id="52" name="Text 19">
            <a:extLst>
              <a:ext uri="{FF2B5EF4-FFF2-40B4-BE49-F238E27FC236}">
                <a16:creationId xmlns:a16="http://schemas.microsoft.com/office/drawing/2014/main" id="{EE5A7718-E9D7-A441-5606-F46819745586}"/>
              </a:ext>
            </a:extLst>
          </p:cNvPr>
          <p:cNvSpPr/>
          <p:nvPr/>
        </p:nvSpPr>
        <p:spPr>
          <a:xfrm>
            <a:off x="-914400" y="-4005809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Voyage — PyTech</a:t>
            </a:r>
            <a:endParaRPr lang="en-US" sz="800" dirty="0"/>
          </a:p>
        </p:txBody>
      </p:sp>
      <p:pic>
        <p:nvPicPr>
          <p:cNvPr id="53" name="Immagine 52">
            <a:extLst>
              <a:ext uri="{FF2B5EF4-FFF2-40B4-BE49-F238E27FC236}">
                <a16:creationId xmlns:a16="http://schemas.microsoft.com/office/drawing/2014/main" id="{83BD61F5-413C-C222-AA24-1AFBC9F031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678397" y="700034"/>
            <a:ext cx="7274470" cy="4651379"/>
          </a:xfrm>
          <a:prstGeom prst="rect">
            <a:avLst/>
          </a:prstGeom>
        </p:spPr>
      </p:pic>
      <p:sp>
        <p:nvSpPr>
          <p:cNvPr id="54" name="Text 14">
            <a:extLst>
              <a:ext uri="{FF2B5EF4-FFF2-40B4-BE49-F238E27FC236}">
                <a16:creationId xmlns:a16="http://schemas.microsoft.com/office/drawing/2014/main" id="{23522B0A-712C-C8D8-4D12-0B608BD1CDEE}"/>
              </a:ext>
            </a:extLst>
          </p:cNvPr>
          <p:cNvSpPr/>
          <p:nvPr/>
        </p:nvSpPr>
        <p:spPr>
          <a:xfrm>
            <a:off x="13819238" y="-4034040"/>
            <a:ext cx="7064477" cy="7528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"Ultima chiamata per Parigi" · setInterval JS · target 6 apr 2026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9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7863840" y="182880"/>
            <a:ext cx="1097280" cy="292608"/>
          </a:xfrm>
          <a:prstGeom prst="rect">
            <a:avLst/>
          </a:prstGeom>
          <a:solidFill>
            <a:srgbClr val="C27A48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7863840" y="1828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56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Hero &amp; </a:t>
            </a:r>
            <a:r>
              <a:rPr lang="en-US" sz="3400" b="1" i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Countdown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5029200" cy="3291840"/>
          </a:xfrm>
          <a:prstGeom prst="rect">
            <a:avLst/>
          </a:prstGeom>
          <a:solidFill>
            <a:srgbClr val="2E2B28"/>
          </a:solidFill>
          <a:ln w="12700">
            <a:solidFill>
              <a:srgbClr val="24222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457200" y="26517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Hero + Countdown 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1463040"/>
            <a:ext cx="3017520" cy="1005840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5760720" y="1463040"/>
            <a:ext cx="54864" cy="1005840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5943600" y="15544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200" b="1" dirty="0">
                <a:solidFill>
                  <a:srgbClr val="FAF8F5"/>
                </a:solidFill>
                <a:latin typeface="Georgia" pitchFamily="34" charset="0"/>
              </a:rPr>
              <a:t>CTA Primario</a:t>
            </a:r>
            <a:endParaRPr lang="en-US" sz="1200" b="1" dirty="0">
              <a:solidFill>
                <a:srgbClr val="FAF8F5"/>
              </a:solidFill>
              <a:latin typeface="Georgia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943600" y="184708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760720" y="2633472"/>
            <a:ext cx="3017520" cy="1005840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Shape 12"/>
          <p:cNvSpPr/>
          <p:nvPr/>
        </p:nvSpPr>
        <p:spPr>
          <a:xfrm>
            <a:off x="5760720" y="2633472"/>
            <a:ext cx="54864" cy="1005840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5943600" y="2724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Countdown live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0" y="30175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"Ultima chiamata per Parigi" · setInterval JS · target 29 apr 2026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60720" y="3803904"/>
            <a:ext cx="3017520" cy="1005840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8" name="Shape 16"/>
          <p:cNvSpPr/>
          <p:nvPr/>
        </p:nvSpPr>
        <p:spPr>
          <a:xfrm>
            <a:off x="5760720" y="3803904"/>
            <a:ext cx="54864" cy="1005840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5943600" y="38953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Info cards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43600" y="418795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· Sede · Orari · Tariffe — floating card identiche alla home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Voyage — PyTech</a:t>
            </a:r>
            <a:endParaRPr lang="en-US" sz="800" dirty="0"/>
          </a:p>
        </p:txBody>
      </p:sp>
      <p:pic>
        <p:nvPicPr>
          <p:cNvPr id="22" name="Immagine 21">
            <a:extLst>
              <a:ext uri="{FF2B5EF4-FFF2-40B4-BE49-F238E27FC236}">
                <a16:creationId xmlns:a16="http://schemas.microsoft.com/office/drawing/2014/main" id="{0C8EEB84-F37D-4534-F6E5-0EA24D09FA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46" y="1522295"/>
            <a:ext cx="4955459" cy="3168577"/>
          </a:xfrm>
          <a:prstGeom prst="rect">
            <a:avLst/>
          </a:prstGeom>
        </p:spPr>
      </p:pic>
      <p:sp>
        <p:nvSpPr>
          <p:cNvPr id="23" name="Text 14">
            <a:extLst>
              <a:ext uri="{FF2B5EF4-FFF2-40B4-BE49-F238E27FC236}">
                <a16:creationId xmlns:a16="http://schemas.microsoft.com/office/drawing/2014/main" id="{B37C3DC6-D262-D842-4A73-39CA2FBFDE94}"/>
              </a:ext>
            </a:extLst>
          </p:cNvPr>
          <p:cNvSpPr/>
          <p:nvPr/>
        </p:nvSpPr>
        <p:spPr>
          <a:xfrm>
            <a:off x="5943600" y="188366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9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Bottone "Acquista Biglietti" per guidare l'utente verso l'acquisto</a:t>
            </a:r>
            <a:endParaRPr lang="en-US" sz="900" dirty="0">
              <a:solidFill>
                <a:srgbClr val="8A868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4" name="Shape 0">
            <a:extLst>
              <a:ext uri="{FF2B5EF4-FFF2-40B4-BE49-F238E27FC236}">
                <a16:creationId xmlns:a16="http://schemas.microsoft.com/office/drawing/2014/main" id="{49DAD5EB-BECC-3BE8-E604-0CAB9CE408DC}"/>
              </a:ext>
            </a:extLst>
          </p:cNvPr>
          <p:cNvSpPr/>
          <p:nvPr/>
        </p:nvSpPr>
        <p:spPr>
          <a:xfrm>
            <a:off x="-10382865" y="6603885"/>
            <a:ext cx="8229600" cy="6551676"/>
          </a:xfrm>
          <a:prstGeom prst="ellipse">
            <a:avLst/>
          </a:prstGeom>
          <a:solidFill>
            <a:srgbClr val="3A2418">
              <a:alpha val="50000"/>
            </a:srgbClr>
          </a:solidFill>
          <a:ln w="12700">
            <a:solidFill>
              <a:srgbClr val="3A241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1">
            <a:extLst>
              <a:ext uri="{FF2B5EF4-FFF2-40B4-BE49-F238E27FC236}">
                <a16:creationId xmlns:a16="http://schemas.microsoft.com/office/drawing/2014/main" id="{55C2E33E-389A-A61D-3F44-7BF363A4F648}"/>
              </a:ext>
            </a:extLst>
          </p:cNvPr>
          <p:cNvSpPr/>
          <p:nvPr/>
        </p:nvSpPr>
        <p:spPr>
          <a:xfrm>
            <a:off x="5943600" y="-444855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5BC50DE2-80C1-4D11-DFC9-943D2C69A3F1}"/>
              </a:ext>
            </a:extLst>
          </p:cNvPr>
          <p:cNvSpPr/>
          <p:nvPr/>
        </p:nvSpPr>
        <p:spPr>
          <a:xfrm>
            <a:off x="10722077" y="-2532740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6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Landing</a:t>
            </a:r>
            <a:endParaRPr lang="en-US" sz="5600" dirty="0"/>
          </a:p>
          <a:p>
            <a:pPr marL="0" indent="0" algn="r">
              <a:buNone/>
            </a:pPr>
            <a:r>
              <a:rPr lang="en-US" sz="5600" b="1" i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</a:t>
            </a:r>
            <a:endParaRPr lang="en-US" sz="5600" dirty="0"/>
          </a:p>
        </p:txBody>
      </p:sp>
      <p:sp>
        <p:nvSpPr>
          <p:cNvPr id="27" name="Shape 0">
            <a:extLst>
              <a:ext uri="{FF2B5EF4-FFF2-40B4-BE49-F238E27FC236}">
                <a16:creationId xmlns:a16="http://schemas.microsoft.com/office/drawing/2014/main" id="{566A8EEE-1FDC-165C-2EB8-1AB656C8F707}"/>
              </a:ext>
            </a:extLst>
          </p:cNvPr>
          <p:cNvSpPr/>
          <p:nvPr/>
        </p:nvSpPr>
        <p:spPr>
          <a:xfrm>
            <a:off x="450051" y="-1999488"/>
            <a:ext cx="11697183" cy="402336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8" name="Shape 1">
            <a:extLst>
              <a:ext uri="{FF2B5EF4-FFF2-40B4-BE49-F238E27FC236}">
                <a16:creationId xmlns:a16="http://schemas.microsoft.com/office/drawing/2014/main" id="{9666E212-6AE4-AF94-7232-DF6DACD05D03}"/>
              </a:ext>
            </a:extLst>
          </p:cNvPr>
          <p:cNvSpPr/>
          <p:nvPr/>
        </p:nvSpPr>
        <p:spPr>
          <a:xfrm>
            <a:off x="8313892" y="-3322320"/>
            <a:ext cx="1403662" cy="2145792"/>
          </a:xfrm>
          <a:prstGeom prst="rect">
            <a:avLst/>
          </a:prstGeom>
          <a:solidFill>
            <a:srgbClr val="C27A48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9" name="Text 2">
            <a:extLst>
              <a:ext uri="{FF2B5EF4-FFF2-40B4-BE49-F238E27FC236}">
                <a16:creationId xmlns:a16="http://schemas.microsoft.com/office/drawing/2014/main" id="{EF18BDDD-19E6-B972-550D-B4CA737972C1}"/>
              </a:ext>
            </a:extLst>
          </p:cNvPr>
          <p:cNvSpPr/>
          <p:nvPr/>
        </p:nvSpPr>
        <p:spPr>
          <a:xfrm>
            <a:off x="8313892" y="-3322320"/>
            <a:ext cx="1403662" cy="2145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</a:t>
            </a:r>
            <a:endParaRPr lang="en-US" sz="1000" dirty="0"/>
          </a:p>
        </p:txBody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6C9632C6-46B0-8B76-1D4C-FF01E7844733}"/>
              </a:ext>
            </a:extLst>
          </p:cNvPr>
          <p:cNvSpPr/>
          <p:nvPr/>
        </p:nvSpPr>
        <p:spPr>
          <a:xfrm>
            <a:off x="907252" y="-3133344"/>
            <a:ext cx="81880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</a:t>
            </a:r>
            <a:endParaRPr lang="en-US" sz="850" dirty="0"/>
          </a:p>
        </p:txBody>
      </p:sp>
      <p:sp>
        <p:nvSpPr>
          <p:cNvPr id="31" name="Text 4">
            <a:extLst>
              <a:ext uri="{FF2B5EF4-FFF2-40B4-BE49-F238E27FC236}">
                <a16:creationId xmlns:a16="http://schemas.microsoft.com/office/drawing/2014/main" id="{50FC867B-46C0-8BD4-E685-49818BDA8765}"/>
              </a:ext>
            </a:extLst>
          </p:cNvPr>
          <p:cNvSpPr/>
          <p:nvPr/>
        </p:nvSpPr>
        <p:spPr>
          <a:xfrm>
            <a:off x="907251" y="-6025896"/>
            <a:ext cx="10527465" cy="569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Perché visitare </a:t>
            </a:r>
            <a:r>
              <a:rPr lang="en-US" sz="3000" b="1" i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Biglietti</a:t>
            </a:r>
            <a:endParaRPr lang="en-US" sz="3000" dirty="0"/>
          </a:p>
        </p:txBody>
      </p:sp>
      <p:sp>
        <p:nvSpPr>
          <p:cNvPr id="32" name="Shape 5">
            <a:extLst>
              <a:ext uri="{FF2B5EF4-FFF2-40B4-BE49-F238E27FC236}">
                <a16:creationId xmlns:a16="http://schemas.microsoft.com/office/drawing/2014/main" id="{5D03610E-8051-3970-4FFF-C55952C3A9B2}"/>
              </a:ext>
            </a:extLst>
          </p:cNvPr>
          <p:cNvSpPr/>
          <p:nvPr/>
        </p:nvSpPr>
        <p:spPr>
          <a:xfrm rot="21252100">
            <a:off x="-8013599" y="-5857629"/>
            <a:ext cx="4940779" cy="4430668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3" name="Shape 6">
            <a:extLst>
              <a:ext uri="{FF2B5EF4-FFF2-40B4-BE49-F238E27FC236}">
                <a16:creationId xmlns:a16="http://schemas.microsoft.com/office/drawing/2014/main" id="{76F6EDF0-67B0-67A1-1E7B-154E60492B8C}"/>
              </a:ext>
            </a:extLst>
          </p:cNvPr>
          <p:cNvSpPr/>
          <p:nvPr/>
        </p:nvSpPr>
        <p:spPr>
          <a:xfrm rot="21252100">
            <a:off x="-8177162" y="-5849345"/>
            <a:ext cx="4940779" cy="241673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12BEEA43-51BB-6246-B69E-99FC848FB331}"/>
              </a:ext>
            </a:extLst>
          </p:cNvPr>
          <p:cNvSpPr/>
          <p:nvPr/>
        </p:nvSpPr>
        <p:spPr>
          <a:xfrm rot="21252100">
            <a:off x="-8024066" y="-5648792"/>
            <a:ext cx="1051230" cy="1208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B8A201CE-5048-886D-D681-155264938760}"/>
              </a:ext>
            </a:extLst>
          </p:cNvPr>
          <p:cNvSpPr/>
          <p:nvPr/>
        </p:nvSpPr>
        <p:spPr>
          <a:xfrm rot="21252100">
            <a:off x="-7989610" y="-5454197"/>
            <a:ext cx="4415164" cy="22153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segreto del Bacio</a:t>
            </a:r>
            <a:endParaRPr lang="en-US" sz="1100" dirty="0"/>
          </a:p>
        </p:txBody>
      </p:sp>
      <p:sp>
        <p:nvSpPr>
          <p:cNvPr id="36" name="Shape 9">
            <a:extLst>
              <a:ext uri="{FF2B5EF4-FFF2-40B4-BE49-F238E27FC236}">
                <a16:creationId xmlns:a16="http://schemas.microsoft.com/office/drawing/2014/main" id="{BEC23290-CC8B-5DAB-34CF-1E39FF57C304}"/>
              </a:ext>
            </a:extLst>
          </p:cNvPr>
          <p:cNvSpPr/>
          <p:nvPr/>
        </p:nvSpPr>
        <p:spPr>
          <a:xfrm rot="21252100">
            <a:off x="-5681879" y="-5857629"/>
            <a:ext cx="4940779" cy="4430668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7" name="Shape 10">
            <a:extLst>
              <a:ext uri="{FF2B5EF4-FFF2-40B4-BE49-F238E27FC236}">
                <a16:creationId xmlns:a16="http://schemas.microsoft.com/office/drawing/2014/main" id="{EC9A64F9-1418-91F8-AAD5-094C5721447F}"/>
              </a:ext>
            </a:extLst>
          </p:cNvPr>
          <p:cNvSpPr/>
          <p:nvPr/>
        </p:nvSpPr>
        <p:spPr>
          <a:xfrm rot="21252100">
            <a:off x="-5845442" y="-5849345"/>
            <a:ext cx="4940779" cy="241673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8" name="Text 11">
            <a:extLst>
              <a:ext uri="{FF2B5EF4-FFF2-40B4-BE49-F238E27FC236}">
                <a16:creationId xmlns:a16="http://schemas.microsoft.com/office/drawing/2014/main" id="{88455EEB-7EB7-F238-E5B8-8F762A528F26}"/>
              </a:ext>
            </a:extLst>
          </p:cNvPr>
          <p:cNvSpPr/>
          <p:nvPr/>
        </p:nvSpPr>
        <p:spPr>
          <a:xfrm rot="21252100">
            <a:off x="-5692346" y="-5648792"/>
            <a:ext cx="1051230" cy="1208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39" name="Text 12">
            <a:extLst>
              <a:ext uri="{FF2B5EF4-FFF2-40B4-BE49-F238E27FC236}">
                <a16:creationId xmlns:a16="http://schemas.microsoft.com/office/drawing/2014/main" id="{24157103-D213-BC4F-4228-583D607BD714}"/>
              </a:ext>
            </a:extLst>
          </p:cNvPr>
          <p:cNvSpPr/>
          <p:nvPr/>
        </p:nvSpPr>
        <p:spPr>
          <a:xfrm rot="21252100">
            <a:off x="-5657890" y="-5454197"/>
            <a:ext cx="4415164" cy="22153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Viaggio nella Parigi '50</a:t>
            </a:r>
            <a:endParaRPr lang="en-US" sz="1100" dirty="0"/>
          </a:p>
        </p:txBody>
      </p:sp>
      <p:sp>
        <p:nvSpPr>
          <p:cNvPr id="40" name="Shape 13">
            <a:extLst>
              <a:ext uri="{FF2B5EF4-FFF2-40B4-BE49-F238E27FC236}">
                <a16:creationId xmlns:a16="http://schemas.microsoft.com/office/drawing/2014/main" id="{88EB8881-7368-6CF8-227D-6CD4BED03A3F}"/>
              </a:ext>
            </a:extLst>
          </p:cNvPr>
          <p:cNvSpPr/>
          <p:nvPr/>
        </p:nvSpPr>
        <p:spPr>
          <a:xfrm rot="21252100">
            <a:off x="-8013599" y="-4668909"/>
            <a:ext cx="4940779" cy="4430668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1" name="Shape 14">
            <a:extLst>
              <a:ext uri="{FF2B5EF4-FFF2-40B4-BE49-F238E27FC236}">
                <a16:creationId xmlns:a16="http://schemas.microsoft.com/office/drawing/2014/main" id="{D5071144-FFB5-9F69-134D-1EE3917B7CC7}"/>
              </a:ext>
            </a:extLst>
          </p:cNvPr>
          <p:cNvSpPr/>
          <p:nvPr/>
        </p:nvSpPr>
        <p:spPr>
          <a:xfrm rot="21252100">
            <a:off x="-8177162" y="-4660625"/>
            <a:ext cx="4940779" cy="241673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2" name="Text 15">
            <a:extLst>
              <a:ext uri="{FF2B5EF4-FFF2-40B4-BE49-F238E27FC236}">
                <a16:creationId xmlns:a16="http://schemas.microsoft.com/office/drawing/2014/main" id="{EF0422AC-CA4C-5DEE-D142-01FB3918EAAF}"/>
              </a:ext>
            </a:extLst>
          </p:cNvPr>
          <p:cNvSpPr/>
          <p:nvPr/>
        </p:nvSpPr>
        <p:spPr>
          <a:xfrm rot="21252100">
            <a:off x="-8024066" y="-4460072"/>
            <a:ext cx="1051230" cy="1208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43" name="Text 16">
            <a:extLst>
              <a:ext uri="{FF2B5EF4-FFF2-40B4-BE49-F238E27FC236}">
                <a16:creationId xmlns:a16="http://schemas.microsoft.com/office/drawing/2014/main" id="{D40BBFC7-04A5-998C-78A5-633E07299448}"/>
              </a:ext>
            </a:extLst>
          </p:cNvPr>
          <p:cNvSpPr/>
          <p:nvPr/>
        </p:nvSpPr>
        <p:spPr>
          <a:xfrm rot="21252100">
            <a:off x="-7989610" y="-4265477"/>
            <a:ext cx="4415164" cy="22153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Arte per tutti</a:t>
            </a:r>
            <a:endParaRPr lang="en-US" sz="1100" dirty="0"/>
          </a:p>
        </p:txBody>
      </p:sp>
      <p:sp>
        <p:nvSpPr>
          <p:cNvPr id="44" name="Shape 17">
            <a:extLst>
              <a:ext uri="{FF2B5EF4-FFF2-40B4-BE49-F238E27FC236}">
                <a16:creationId xmlns:a16="http://schemas.microsoft.com/office/drawing/2014/main" id="{7BE9EA87-1F74-4A76-4A21-2EC1A2560777}"/>
              </a:ext>
            </a:extLst>
          </p:cNvPr>
          <p:cNvSpPr/>
          <p:nvPr/>
        </p:nvSpPr>
        <p:spPr>
          <a:xfrm rot="21252100">
            <a:off x="-5681879" y="-4668909"/>
            <a:ext cx="4940779" cy="4430668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5" name="Shape 18">
            <a:extLst>
              <a:ext uri="{FF2B5EF4-FFF2-40B4-BE49-F238E27FC236}">
                <a16:creationId xmlns:a16="http://schemas.microsoft.com/office/drawing/2014/main" id="{05916F6C-27E8-D388-28B8-E3E553A1EC83}"/>
              </a:ext>
            </a:extLst>
          </p:cNvPr>
          <p:cNvSpPr/>
          <p:nvPr/>
        </p:nvSpPr>
        <p:spPr>
          <a:xfrm rot="21252100">
            <a:off x="-5845442" y="-4660625"/>
            <a:ext cx="4940779" cy="241673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6" name="Text 19">
            <a:extLst>
              <a:ext uri="{FF2B5EF4-FFF2-40B4-BE49-F238E27FC236}">
                <a16:creationId xmlns:a16="http://schemas.microsoft.com/office/drawing/2014/main" id="{7759B6FC-A469-BA97-7F32-05A20C42C883}"/>
              </a:ext>
            </a:extLst>
          </p:cNvPr>
          <p:cNvSpPr/>
          <p:nvPr/>
        </p:nvSpPr>
        <p:spPr>
          <a:xfrm rot="21252100">
            <a:off x="-5692346" y="-4460072"/>
            <a:ext cx="1051230" cy="1208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47" name="Text 20">
            <a:extLst>
              <a:ext uri="{FF2B5EF4-FFF2-40B4-BE49-F238E27FC236}">
                <a16:creationId xmlns:a16="http://schemas.microsoft.com/office/drawing/2014/main" id="{14691BF8-D2C5-1433-6133-E3C81704952A}"/>
              </a:ext>
            </a:extLst>
          </p:cNvPr>
          <p:cNvSpPr/>
          <p:nvPr/>
        </p:nvSpPr>
        <p:spPr>
          <a:xfrm rot="21252100">
            <a:off x="-5657890" y="-4265477"/>
            <a:ext cx="4415164" cy="22153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Sostieni Pordenone 2027</a:t>
            </a:r>
            <a:endParaRPr lang="en-US" sz="1100" dirty="0"/>
          </a:p>
        </p:txBody>
      </p:sp>
      <p:sp>
        <p:nvSpPr>
          <p:cNvPr id="48" name="Shape 21">
            <a:extLst>
              <a:ext uri="{FF2B5EF4-FFF2-40B4-BE49-F238E27FC236}">
                <a16:creationId xmlns:a16="http://schemas.microsoft.com/office/drawing/2014/main" id="{71EC254F-C57B-1460-76F2-F9972500A2E8}"/>
              </a:ext>
            </a:extLst>
          </p:cNvPr>
          <p:cNvSpPr/>
          <p:nvPr/>
        </p:nvSpPr>
        <p:spPr>
          <a:xfrm>
            <a:off x="10430059" y="8929234"/>
            <a:ext cx="4919708" cy="19039105"/>
          </a:xfrm>
          <a:prstGeom prst="rect">
            <a:avLst/>
          </a:prstGeom>
          <a:solidFill>
            <a:srgbClr val="2E2B28"/>
          </a:solidFill>
          <a:ln w="12700">
            <a:solidFill>
              <a:srgbClr val="3A363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9" name="Text 22">
            <a:extLst>
              <a:ext uri="{FF2B5EF4-FFF2-40B4-BE49-F238E27FC236}">
                <a16:creationId xmlns:a16="http://schemas.microsoft.com/office/drawing/2014/main" id="{9FC943C9-D774-9E8F-2083-DC8E3ECF4318}"/>
              </a:ext>
            </a:extLst>
          </p:cNvPr>
          <p:cNvSpPr/>
          <p:nvPr/>
        </p:nvSpPr>
        <p:spPr>
          <a:xfrm>
            <a:off x="5387811" y="-2795016"/>
            <a:ext cx="479584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Perché visitare ]</a:t>
            </a:r>
            <a:endParaRPr lang="en-US" sz="1000" dirty="0"/>
          </a:p>
        </p:txBody>
      </p:sp>
      <p:sp>
        <p:nvSpPr>
          <p:cNvPr id="50" name="Shape 23">
            <a:extLst>
              <a:ext uri="{FF2B5EF4-FFF2-40B4-BE49-F238E27FC236}">
                <a16:creationId xmlns:a16="http://schemas.microsoft.com/office/drawing/2014/main" id="{5D1A73E6-5AD3-50FB-0493-BF9848D487D5}"/>
              </a:ext>
            </a:extLst>
          </p:cNvPr>
          <p:cNvSpPr/>
          <p:nvPr/>
        </p:nvSpPr>
        <p:spPr>
          <a:xfrm>
            <a:off x="5949498" y="11512414"/>
            <a:ext cx="10799359" cy="6825339"/>
          </a:xfrm>
          <a:prstGeom prst="rect">
            <a:avLst/>
          </a:prstGeom>
          <a:solidFill>
            <a:srgbClr val="1A1917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1" name="Shape 24">
            <a:extLst>
              <a:ext uri="{FF2B5EF4-FFF2-40B4-BE49-F238E27FC236}">
                <a16:creationId xmlns:a16="http://schemas.microsoft.com/office/drawing/2014/main" id="{E3DC9AD2-6045-31C3-B388-FABCBBB8AEF5}"/>
              </a:ext>
            </a:extLst>
          </p:cNvPr>
          <p:cNvSpPr/>
          <p:nvPr/>
        </p:nvSpPr>
        <p:spPr>
          <a:xfrm>
            <a:off x="5949499" y="11512414"/>
            <a:ext cx="71996" cy="6825339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2" name="Text 25">
            <a:extLst>
              <a:ext uri="{FF2B5EF4-FFF2-40B4-BE49-F238E27FC236}">
                <a16:creationId xmlns:a16="http://schemas.microsoft.com/office/drawing/2014/main" id="{4831D08F-4BBA-A092-235A-AE04CCA59778}"/>
              </a:ext>
            </a:extLst>
          </p:cNvPr>
          <p:cNvSpPr/>
          <p:nvPr/>
        </p:nvSpPr>
        <p:spPr>
          <a:xfrm rot="21252100">
            <a:off x="-7961658" y="-3311498"/>
            <a:ext cx="6307377" cy="1127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Sezione Biglietti</a:t>
            </a:r>
            <a:endParaRPr lang="en-US" sz="1300" dirty="0"/>
          </a:p>
        </p:txBody>
      </p:sp>
      <p:sp>
        <p:nvSpPr>
          <p:cNvPr id="53" name="Text 26">
            <a:extLst>
              <a:ext uri="{FF2B5EF4-FFF2-40B4-BE49-F238E27FC236}">
                <a16:creationId xmlns:a16="http://schemas.microsoft.com/office/drawing/2014/main" id="{7A9ACA77-557A-E7F2-E564-23765BCE74ED}"/>
              </a:ext>
            </a:extLst>
          </p:cNvPr>
          <p:cNvSpPr/>
          <p:nvPr/>
        </p:nvSpPr>
        <p:spPr>
          <a:xfrm>
            <a:off x="6132379" y="11896463"/>
            <a:ext cx="8399502" cy="2730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 12€  ·  Ridotto 9€  ·  Studenti 5€  ·  Gratuito  ·  ★ Combo "Sul Leggere" +5€</a:t>
            </a:r>
            <a:endParaRPr lang="en-US" sz="1000" dirty="0"/>
          </a:p>
        </p:txBody>
      </p:sp>
      <p:sp>
        <p:nvSpPr>
          <p:cNvPr id="54" name="Text 27">
            <a:extLst>
              <a:ext uri="{FF2B5EF4-FFF2-40B4-BE49-F238E27FC236}">
                <a16:creationId xmlns:a16="http://schemas.microsoft.com/office/drawing/2014/main" id="{B125D0D4-781C-889A-61A9-062F7238DAA4}"/>
              </a:ext>
            </a:extLst>
          </p:cNvPr>
          <p:cNvSpPr/>
          <p:nvPr/>
        </p:nvSpPr>
        <p:spPr>
          <a:xfrm>
            <a:off x="12807498" y="11713582"/>
            <a:ext cx="1559907" cy="43107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CTA sticky →</a:t>
            </a:r>
            <a:endParaRPr lang="en-US" sz="900" dirty="0"/>
          </a:p>
        </p:txBody>
      </p:sp>
      <p:sp>
        <p:nvSpPr>
          <p:cNvPr id="55" name="Text 28">
            <a:extLst>
              <a:ext uri="{FF2B5EF4-FFF2-40B4-BE49-F238E27FC236}">
                <a16:creationId xmlns:a16="http://schemas.microsoft.com/office/drawing/2014/main" id="{61C0AF0D-95AC-37A0-4385-FAF183FC57DF}"/>
              </a:ext>
            </a:extLst>
          </p:cNvPr>
          <p:cNvSpPr/>
          <p:nvPr/>
        </p:nvSpPr>
        <p:spPr>
          <a:xfrm>
            <a:off x="5492299" y="12472534"/>
            <a:ext cx="11999288" cy="2011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Voyage — PyTech</a:t>
            </a:r>
            <a:endParaRPr lang="en-US" sz="800" dirty="0"/>
          </a:p>
        </p:txBody>
      </p:sp>
      <p:pic>
        <p:nvPicPr>
          <p:cNvPr id="56" name="Immagine 55">
            <a:extLst>
              <a:ext uri="{FF2B5EF4-FFF2-40B4-BE49-F238E27FC236}">
                <a16:creationId xmlns:a16="http://schemas.microsoft.com/office/drawing/2014/main" id="{DFF0956D-C9E8-5F5F-97E4-1D9A339130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1630" y="8988551"/>
            <a:ext cx="28803462" cy="1810698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B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7863840" y="182880"/>
            <a:ext cx="1097280" cy="292608"/>
          </a:xfrm>
          <a:prstGeom prst="rect">
            <a:avLst/>
          </a:prstGeom>
          <a:solidFill>
            <a:srgbClr val="C27A48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7863840" y="1828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56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Perché visitare </a:t>
            </a:r>
            <a:r>
              <a:rPr lang="en-US" sz="3000" b="1" i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Biglietti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2148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2148840" cy="54864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566928" y="1554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184708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segreto del Bacio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88920" y="1463040"/>
            <a:ext cx="2148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2788920" y="1463040"/>
            <a:ext cx="2148840" cy="54864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2898648" y="1554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98648" y="184708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Viaggio nella Parigi '50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651760"/>
            <a:ext cx="2148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457200" y="2651760"/>
            <a:ext cx="2148840" cy="54864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566928" y="2743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66928" y="303580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Arte per tutti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88920" y="2651760"/>
            <a:ext cx="2148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0" name="Shape 18"/>
          <p:cNvSpPr/>
          <p:nvPr/>
        </p:nvSpPr>
        <p:spPr>
          <a:xfrm>
            <a:off x="2788920" y="2651760"/>
            <a:ext cx="2148840" cy="54864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2898648" y="2743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898648" y="303580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Sostieni Pordenone 2027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937760" y="1348740"/>
            <a:ext cx="3749040" cy="2423160"/>
          </a:xfrm>
          <a:prstGeom prst="rect">
            <a:avLst/>
          </a:prstGeom>
          <a:solidFill>
            <a:srgbClr val="2E2B28"/>
          </a:solidFill>
          <a:ln w="12700">
            <a:solidFill>
              <a:srgbClr val="3A363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4937760" y="23317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Perché visitare ]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931920"/>
            <a:ext cx="8229600" cy="868680"/>
          </a:xfrm>
          <a:prstGeom prst="rect">
            <a:avLst/>
          </a:prstGeom>
          <a:solidFill>
            <a:srgbClr val="1A1917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6" name="Shape 24"/>
          <p:cNvSpPr/>
          <p:nvPr/>
        </p:nvSpPr>
        <p:spPr>
          <a:xfrm>
            <a:off x="457200" y="3931920"/>
            <a:ext cx="54864" cy="868680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640080" y="4041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Sezione Biglietti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4315968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 12€  ·  Ridotto 9€  ·  Studenti 5€  ·  Gratuito  ·  ★ Combo "Sul Leggere" +5€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315200" y="413308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CTA sticky →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Voyage — PyTech</a:t>
            </a:r>
            <a:endParaRPr lang="en-US" sz="800" dirty="0"/>
          </a:p>
        </p:txBody>
      </p:sp>
      <p:pic>
        <p:nvPicPr>
          <p:cNvPr id="32" name="Immagine 31">
            <a:extLst>
              <a:ext uri="{FF2B5EF4-FFF2-40B4-BE49-F238E27FC236}">
                <a16:creationId xmlns:a16="http://schemas.microsoft.com/office/drawing/2014/main" id="{FEE83B41-19F5-9BC8-3194-2E54CAE7B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9331" y="1408057"/>
            <a:ext cx="3665897" cy="230452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31" name="Shape 0">
            <a:extLst>
              <a:ext uri="{FF2B5EF4-FFF2-40B4-BE49-F238E27FC236}">
                <a16:creationId xmlns:a16="http://schemas.microsoft.com/office/drawing/2014/main" id="{191F04BD-7956-52EE-90A1-DB53CE757287}"/>
              </a:ext>
            </a:extLst>
          </p:cNvPr>
          <p:cNvSpPr/>
          <p:nvPr/>
        </p:nvSpPr>
        <p:spPr>
          <a:xfrm>
            <a:off x="640080" y="-1877949"/>
            <a:ext cx="26714242" cy="394335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3" name="Shape 1">
            <a:extLst>
              <a:ext uri="{FF2B5EF4-FFF2-40B4-BE49-F238E27FC236}">
                <a16:creationId xmlns:a16="http://schemas.microsoft.com/office/drawing/2014/main" id="{EACEB653-A25F-4595-F5E0-996C9756D0EF}"/>
              </a:ext>
            </a:extLst>
          </p:cNvPr>
          <p:cNvSpPr/>
          <p:nvPr/>
        </p:nvSpPr>
        <p:spPr>
          <a:xfrm>
            <a:off x="8503919" y="-3166110"/>
            <a:ext cx="3205709" cy="2103120"/>
          </a:xfrm>
          <a:prstGeom prst="rect">
            <a:avLst/>
          </a:prstGeom>
          <a:solidFill>
            <a:srgbClr val="C27A48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4" name="Text 2">
            <a:extLst>
              <a:ext uri="{FF2B5EF4-FFF2-40B4-BE49-F238E27FC236}">
                <a16:creationId xmlns:a16="http://schemas.microsoft.com/office/drawing/2014/main" id="{D8AFDFB2-1413-5A47-F6B5-0896A1A06419}"/>
              </a:ext>
            </a:extLst>
          </p:cNvPr>
          <p:cNvSpPr/>
          <p:nvPr/>
        </p:nvSpPr>
        <p:spPr>
          <a:xfrm>
            <a:off x="8503919" y="-3166110"/>
            <a:ext cx="320570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</a:t>
            </a:r>
            <a:endParaRPr lang="en-US" sz="1000" dirty="0"/>
          </a:p>
        </p:txBody>
      </p:sp>
      <p:sp>
        <p:nvSpPr>
          <p:cNvPr id="35" name="Text 3">
            <a:extLst>
              <a:ext uri="{FF2B5EF4-FFF2-40B4-BE49-F238E27FC236}">
                <a16:creationId xmlns:a16="http://schemas.microsoft.com/office/drawing/2014/main" id="{81E9C607-D5EF-9DBA-DB87-5A87BCA52682}"/>
              </a:ext>
            </a:extLst>
          </p:cNvPr>
          <p:cNvSpPr/>
          <p:nvPr/>
        </p:nvSpPr>
        <p:spPr>
          <a:xfrm>
            <a:off x="-16056862" y="-3498539"/>
            <a:ext cx="16166590" cy="1290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</a:t>
            </a:r>
            <a:endParaRPr lang="en-US" sz="850" dirty="0"/>
          </a:p>
        </p:txBody>
      </p:sp>
      <p:sp>
        <p:nvSpPr>
          <p:cNvPr id="36" name="Text 4">
            <a:extLst>
              <a:ext uri="{FF2B5EF4-FFF2-40B4-BE49-F238E27FC236}">
                <a16:creationId xmlns:a16="http://schemas.microsoft.com/office/drawing/2014/main" id="{2D689EA2-E850-90F6-0552-F1B2E90194F3}"/>
              </a:ext>
            </a:extLst>
          </p:cNvPr>
          <p:cNvSpPr/>
          <p:nvPr/>
        </p:nvSpPr>
        <p:spPr>
          <a:xfrm>
            <a:off x="-13266636" y="-2915367"/>
            <a:ext cx="11547564" cy="387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Hero &amp; </a:t>
            </a:r>
            <a:r>
              <a:rPr lang="en-US" sz="3400" b="1" i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Countdown</a:t>
            </a:r>
            <a:endParaRPr lang="en-US" sz="3400" dirty="0"/>
          </a:p>
        </p:txBody>
      </p:sp>
      <p:sp>
        <p:nvSpPr>
          <p:cNvPr id="37" name="Shape 5">
            <a:extLst>
              <a:ext uri="{FF2B5EF4-FFF2-40B4-BE49-F238E27FC236}">
                <a16:creationId xmlns:a16="http://schemas.microsoft.com/office/drawing/2014/main" id="{0E4311D3-16EA-73FC-852F-D9FB50505BDD}"/>
              </a:ext>
            </a:extLst>
          </p:cNvPr>
          <p:cNvSpPr/>
          <p:nvPr/>
        </p:nvSpPr>
        <p:spPr>
          <a:xfrm>
            <a:off x="-13964193" y="-693427"/>
            <a:ext cx="12702321" cy="1548454"/>
          </a:xfrm>
          <a:prstGeom prst="rect">
            <a:avLst/>
          </a:prstGeom>
          <a:solidFill>
            <a:srgbClr val="2E2B28"/>
          </a:solidFill>
          <a:ln w="12700">
            <a:solidFill>
              <a:srgbClr val="24222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8" name="Text 6">
            <a:extLst>
              <a:ext uri="{FF2B5EF4-FFF2-40B4-BE49-F238E27FC236}">
                <a16:creationId xmlns:a16="http://schemas.microsoft.com/office/drawing/2014/main" id="{2A4A2983-25AE-8D09-69C9-E8A6FE2F951F}"/>
              </a:ext>
            </a:extLst>
          </p:cNvPr>
          <p:cNvSpPr/>
          <p:nvPr/>
        </p:nvSpPr>
        <p:spPr>
          <a:xfrm>
            <a:off x="-13964193" y="-957529"/>
            <a:ext cx="12702321" cy="258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Hero + Countdown ]</a:t>
            </a:r>
            <a:endParaRPr lang="en-US" sz="1100" dirty="0"/>
          </a:p>
        </p:txBody>
      </p:sp>
      <p:sp>
        <p:nvSpPr>
          <p:cNvPr id="39" name="Shape 7">
            <a:extLst>
              <a:ext uri="{FF2B5EF4-FFF2-40B4-BE49-F238E27FC236}">
                <a16:creationId xmlns:a16="http://schemas.microsoft.com/office/drawing/2014/main" id="{09058FF8-9FA0-DC55-663B-BAAF6B77A5DD}"/>
              </a:ext>
            </a:extLst>
          </p:cNvPr>
          <p:cNvSpPr/>
          <p:nvPr/>
        </p:nvSpPr>
        <p:spPr>
          <a:xfrm>
            <a:off x="11622318" y="6946934"/>
            <a:ext cx="10470765" cy="4705030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0" name="Shape 8">
            <a:extLst>
              <a:ext uri="{FF2B5EF4-FFF2-40B4-BE49-F238E27FC236}">
                <a16:creationId xmlns:a16="http://schemas.microsoft.com/office/drawing/2014/main" id="{1CBBF489-06EC-637C-79C1-0593D5DC6F4B}"/>
              </a:ext>
            </a:extLst>
          </p:cNvPr>
          <p:cNvSpPr/>
          <p:nvPr/>
        </p:nvSpPr>
        <p:spPr>
          <a:xfrm>
            <a:off x="11622319" y="6946934"/>
            <a:ext cx="190378" cy="4705030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1" name="Text 9">
            <a:extLst>
              <a:ext uri="{FF2B5EF4-FFF2-40B4-BE49-F238E27FC236}">
                <a16:creationId xmlns:a16="http://schemas.microsoft.com/office/drawing/2014/main" id="{4066C602-CA0A-DDDA-D64A-E2FAE13213B6}"/>
              </a:ext>
            </a:extLst>
          </p:cNvPr>
          <p:cNvSpPr/>
          <p:nvPr/>
        </p:nvSpPr>
        <p:spPr>
          <a:xfrm>
            <a:off x="11805198" y="7038374"/>
            <a:ext cx="9518877" cy="1197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</a:rPr>
              <a:t>Title</a:t>
            </a:r>
            <a:endParaRPr lang="en-US" sz="1200" dirty="0"/>
          </a:p>
        </p:txBody>
      </p:sp>
      <p:sp>
        <p:nvSpPr>
          <p:cNvPr id="42" name="Text 10">
            <a:extLst>
              <a:ext uri="{FF2B5EF4-FFF2-40B4-BE49-F238E27FC236}">
                <a16:creationId xmlns:a16="http://schemas.microsoft.com/office/drawing/2014/main" id="{E59674A9-9057-028D-422C-8437A9441DA0}"/>
              </a:ext>
            </a:extLst>
          </p:cNvPr>
          <p:cNvSpPr/>
          <p:nvPr/>
        </p:nvSpPr>
        <p:spPr>
          <a:xfrm>
            <a:off x="11805198" y="7330981"/>
            <a:ext cx="9518877" cy="2352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43" name="Shape 11">
            <a:extLst>
              <a:ext uri="{FF2B5EF4-FFF2-40B4-BE49-F238E27FC236}">
                <a16:creationId xmlns:a16="http://schemas.microsoft.com/office/drawing/2014/main" id="{E5134557-0D30-5803-65B0-E0AA3729630D}"/>
              </a:ext>
            </a:extLst>
          </p:cNvPr>
          <p:cNvSpPr/>
          <p:nvPr/>
        </p:nvSpPr>
        <p:spPr>
          <a:xfrm>
            <a:off x="11622318" y="8117366"/>
            <a:ext cx="10470765" cy="4705030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4" name="Shape 12">
            <a:extLst>
              <a:ext uri="{FF2B5EF4-FFF2-40B4-BE49-F238E27FC236}">
                <a16:creationId xmlns:a16="http://schemas.microsoft.com/office/drawing/2014/main" id="{96C02EB1-B3DB-A18D-A6D1-7898F59E55A2}"/>
              </a:ext>
            </a:extLst>
          </p:cNvPr>
          <p:cNvSpPr/>
          <p:nvPr/>
        </p:nvSpPr>
        <p:spPr>
          <a:xfrm>
            <a:off x="11622319" y="8117366"/>
            <a:ext cx="190378" cy="4705030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5" name="Text 13">
            <a:extLst>
              <a:ext uri="{FF2B5EF4-FFF2-40B4-BE49-F238E27FC236}">
                <a16:creationId xmlns:a16="http://schemas.microsoft.com/office/drawing/2014/main" id="{83C8B682-DA8B-409E-B873-44EFA66BE708}"/>
              </a:ext>
            </a:extLst>
          </p:cNvPr>
          <p:cNvSpPr/>
          <p:nvPr/>
        </p:nvSpPr>
        <p:spPr>
          <a:xfrm>
            <a:off x="11805198" y="8208806"/>
            <a:ext cx="9518877" cy="1197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Countdown live</a:t>
            </a:r>
            <a:endParaRPr lang="en-US" sz="1200" dirty="0"/>
          </a:p>
        </p:txBody>
      </p:sp>
      <p:sp>
        <p:nvSpPr>
          <p:cNvPr id="46" name="Text 14">
            <a:extLst>
              <a:ext uri="{FF2B5EF4-FFF2-40B4-BE49-F238E27FC236}">
                <a16:creationId xmlns:a16="http://schemas.microsoft.com/office/drawing/2014/main" id="{EF592EAB-DD50-7A72-05E4-C74F754D6F2D}"/>
              </a:ext>
            </a:extLst>
          </p:cNvPr>
          <p:cNvSpPr/>
          <p:nvPr/>
        </p:nvSpPr>
        <p:spPr>
          <a:xfrm>
            <a:off x="11805198" y="8501413"/>
            <a:ext cx="9518877" cy="2352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"Ultima chiamata per Parigi" · setInterval JS · target 6 apr 2026</a:t>
            </a:r>
            <a:endParaRPr lang="en-US" sz="900" dirty="0"/>
          </a:p>
        </p:txBody>
      </p:sp>
      <p:sp>
        <p:nvSpPr>
          <p:cNvPr id="47" name="Shape 15">
            <a:extLst>
              <a:ext uri="{FF2B5EF4-FFF2-40B4-BE49-F238E27FC236}">
                <a16:creationId xmlns:a16="http://schemas.microsoft.com/office/drawing/2014/main" id="{B2803544-A013-58B1-51FC-80D53F40E228}"/>
              </a:ext>
            </a:extLst>
          </p:cNvPr>
          <p:cNvSpPr/>
          <p:nvPr/>
        </p:nvSpPr>
        <p:spPr>
          <a:xfrm>
            <a:off x="11622318" y="9287798"/>
            <a:ext cx="10470765" cy="4705030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8" name="Shape 16">
            <a:extLst>
              <a:ext uri="{FF2B5EF4-FFF2-40B4-BE49-F238E27FC236}">
                <a16:creationId xmlns:a16="http://schemas.microsoft.com/office/drawing/2014/main" id="{E73C2677-8252-6368-0FB8-945DA520AFD9}"/>
              </a:ext>
            </a:extLst>
          </p:cNvPr>
          <p:cNvSpPr/>
          <p:nvPr/>
        </p:nvSpPr>
        <p:spPr>
          <a:xfrm>
            <a:off x="11622319" y="9287798"/>
            <a:ext cx="190378" cy="4705030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9" name="Text 17">
            <a:extLst>
              <a:ext uri="{FF2B5EF4-FFF2-40B4-BE49-F238E27FC236}">
                <a16:creationId xmlns:a16="http://schemas.microsoft.com/office/drawing/2014/main" id="{798CF0A8-F39F-3230-1EBB-D47E773A3AE3}"/>
              </a:ext>
            </a:extLst>
          </p:cNvPr>
          <p:cNvSpPr/>
          <p:nvPr/>
        </p:nvSpPr>
        <p:spPr>
          <a:xfrm>
            <a:off x="11805198" y="9379238"/>
            <a:ext cx="9518877" cy="1197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Info cards</a:t>
            </a:r>
            <a:endParaRPr lang="en-US" sz="1200" dirty="0"/>
          </a:p>
        </p:txBody>
      </p:sp>
      <p:sp>
        <p:nvSpPr>
          <p:cNvPr id="50" name="Text 18">
            <a:extLst>
              <a:ext uri="{FF2B5EF4-FFF2-40B4-BE49-F238E27FC236}">
                <a16:creationId xmlns:a16="http://schemas.microsoft.com/office/drawing/2014/main" id="{2FE18B28-E050-7F30-983B-6C30AE4A435F}"/>
              </a:ext>
            </a:extLst>
          </p:cNvPr>
          <p:cNvSpPr/>
          <p:nvPr/>
        </p:nvSpPr>
        <p:spPr>
          <a:xfrm>
            <a:off x="11805198" y="9671845"/>
            <a:ext cx="9518877" cy="2352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· Sede · Orari · Tariffe — floating card identiche alla home</a:t>
            </a:r>
            <a:endParaRPr lang="en-US" sz="900" dirty="0"/>
          </a:p>
        </p:txBody>
      </p:sp>
      <p:sp>
        <p:nvSpPr>
          <p:cNvPr id="51" name="Text 19">
            <a:extLst>
              <a:ext uri="{FF2B5EF4-FFF2-40B4-BE49-F238E27FC236}">
                <a16:creationId xmlns:a16="http://schemas.microsoft.com/office/drawing/2014/main" id="{C68D2E76-A236-93CB-ACE5-724EB8DF0928}"/>
              </a:ext>
            </a:extLst>
          </p:cNvPr>
          <p:cNvSpPr/>
          <p:nvPr/>
        </p:nvSpPr>
        <p:spPr>
          <a:xfrm>
            <a:off x="-11423511" y="1202436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Voyage — PyTech</a:t>
            </a:r>
            <a:endParaRPr lang="en-US" sz="800" dirty="0"/>
          </a:p>
        </p:txBody>
      </p:sp>
      <p:pic>
        <p:nvPicPr>
          <p:cNvPr id="52" name="Immagine 51">
            <a:extLst>
              <a:ext uri="{FF2B5EF4-FFF2-40B4-BE49-F238E27FC236}">
                <a16:creationId xmlns:a16="http://schemas.microsoft.com/office/drawing/2014/main" id="{C2EC0E00-662D-5D10-4EAD-16B91CAA19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3819238" y="-7211900"/>
            <a:ext cx="12516072" cy="8002919"/>
          </a:xfrm>
          <a:prstGeom prst="rect">
            <a:avLst/>
          </a:prstGeom>
        </p:spPr>
      </p:pic>
      <p:sp>
        <p:nvSpPr>
          <p:cNvPr id="53" name="Text 14">
            <a:extLst>
              <a:ext uri="{FF2B5EF4-FFF2-40B4-BE49-F238E27FC236}">
                <a16:creationId xmlns:a16="http://schemas.microsoft.com/office/drawing/2014/main" id="{E5CC3F75-5E8B-17D0-264D-800D84B784A5}"/>
              </a:ext>
            </a:extLst>
          </p:cNvPr>
          <p:cNvSpPr/>
          <p:nvPr/>
        </p:nvSpPr>
        <p:spPr>
          <a:xfrm>
            <a:off x="11805198" y="7367557"/>
            <a:ext cx="9518877" cy="2352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"Ultima chiamata per Parigi" · setInterval JS · target 6 apr 2026</a:t>
            </a:r>
            <a:endParaRPr lang="en-US" sz="900" dirty="0"/>
          </a:p>
        </p:txBody>
      </p:sp>
      <p:sp>
        <p:nvSpPr>
          <p:cNvPr id="57" name="Shape 0">
            <a:extLst>
              <a:ext uri="{FF2B5EF4-FFF2-40B4-BE49-F238E27FC236}">
                <a16:creationId xmlns:a16="http://schemas.microsoft.com/office/drawing/2014/main" id="{3D8C399B-98DD-6E57-6957-800F03582B31}"/>
              </a:ext>
            </a:extLst>
          </p:cNvPr>
          <p:cNvSpPr/>
          <p:nvPr/>
        </p:nvSpPr>
        <p:spPr>
          <a:xfrm>
            <a:off x="12298063" y="-5953642"/>
            <a:ext cx="10470764" cy="8525391"/>
          </a:xfrm>
          <a:prstGeom prst="ellipse">
            <a:avLst/>
          </a:prstGeom>
          <a:solidFill>
            <a:srgbClr val="3A2418">
              <a:alpha val="55000"/>
            </a:srgbClr>
          </a:solidFill>
          <a:ln w="12700">
            <a:solidFill>
              <a:srgbClr val="3A241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8" name="Text 1">
            <a:extLst>
              <a:ext uri="{FF2B5EF4-FFF2-40B4-BE49-F238E27FC236}">
                <a16:creationId xmlns:a16="http://schemas.microsoft.com/office/drawing/2014/main" id="{1E9A8E53-3FA5-C11D-DC57-A9AD6032ECD0}"/>
              </a:ext>
            </a:extLst>
          </p:cNvPr>
          <p:cNvSpPr/>
          <p:nvPr/>
        </p:nvSpPr>
        <p:spPr>
          <a:xfrm>
            <a:off x="-2597808" y="6217919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59" name="Text 2">
            <a:extLst>
              <a:ext uri="{FF2B5EF4-FFF2-40B4-BE49-F238E27FC236}">
                <a16:creationId xmlns:a16="http://schemas.microsoft.com/office/drawing/2014/main" id="{FF867AC3-DF6A-97BF-BA95-692230E00C91}"/>
              </a:ext>
            </a:extLst>
          </p:cNvPr>
          <p:cNvSpPr/>
          <p:nvPr/>
        </p:nvSpPr>
        <p:spPr>
          <a:xfrm>
            <a:off x="2286000" y="8565936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Blog &amp;</a:t>
            </a:r>
            <a:endParaRPr lang="en-US" sz="5600" dirty="0"/>
          </a:p>
          <a:p>
            <a:pPr marL="0" indent="0">
              <a:buNone/>
            </a:pPr>
            <a:r>
              <a:rPr lang="en-US" sz="5600" b="1" i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FAQ</a:t>
            </a:r>
            <a:endParaRPr lang="en-US" sz="56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9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-457200"/>
            <a:ext cx="5486400" cy="5486400"/>
          </a:xfrm>
          <a:prstGeom prst="ellipse">
            <a:avLst/>
          </a:prstGeom>
          <a:solidFill>
            <a:srgbClr val="3A2418">
              <a:alpha val="55000"/>
            </a:srgbClr>
          </a:solidFill>
          <a:ln w="12700">
            <a:solidFill>
              <a:srgbClr val="3A241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Blog &amp;</a:t>
            </a:r>
            <a:endParaRPr lang="en-US" sz="5600" dirty="0"/>
          </a:p>
          <a:p>
            <a:pPr marL="0" indent="0">
              <a:buNone/>
            </a:pPr>
            <a:r>
              <a:rPr lang="en-US" sz="5600" b="1" i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FAQ</a:t>
            </a:r>
            <a:endParaRPr lang="en-US" sz="5600" dirty="0"/>
          </a:p>
        </p:txBody>
      </p:sp>
      <p:sp>
        <p:nvSpPr>
          <p:cNvPr id="5" name="Shape 0">
            <a:extLst>
              <a:ext uri="{FF2B5EF4-FFF2-40B4-BE49-F238E27FC236}">
                <a16:creationId xmlns:a16="http://schemas.microsoft.com/office/drawing/2014/main" id="{0CA0F97A-64FE-5419-B661-E73F5175601F}"/>
              </a:ext>
            </a:extLst>
          </p:cNvPr>
          <p:cNvSpPr/>
          <p:nvPr/>
        </p:nvSpPr>
        <p:spPr>
          <a:xfrm>
            <a:off x="5094337" y="-4871335"/>
            <a:ext cx="21606383" cy="341490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FFEB1518-509D-B6B1-6A48-59EED404D447}"/>
              </a:ext>
            </a:extLst>
          </p:cNvPr>
          <p:cNvSpPr/>
          <p:nvPr/>
        </p:nvSpPr>
        <p:spPr>
          <a:xfrm>
            <a:off x="12958178" y="-5930500"/>
            <a:ext cx="2592766" cy="1821279"/>
          </a:xfrm>
          <a:prstGeom prst="rect">
            <a:avLst/>
          </a:prstGeom>
          <a:solidFill>
            <a:srgbClr val="C27A48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1EF8C8DD-1A5B-2D5F-EFAB-9780BD209708}"/>
              </a:ext>
            </a:extLst>
          </p:cNvPr>
          <p:cNvSpPr/>
          <p:nvPr/>
        </p:nvSpPr>
        <p:spPr>
          <a:xfrm>
            <a:off x="12958178" y="-5930500"/>
            <a:ext cx="2592766" cy="1821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</a:t>
            </a:r>
            <a:endParaRPr lang="en-US" sz="1000" dirty="0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6C2FF776-3D66-A63B-867E-4A079B4250CE}"/>
              </a:ext>
            </a:extLst>
          </p:cNvPr>
          <p:cNvSpPr/>
          <p:nvPr/>
        </p:nvSpPr>
        <p:spPr>
          <a:xfrm>
            <a:off x="5551538" y="-5761806"/>
            <a:ext cx="15124468" cy="1707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</a:t>
            </a:r>
            <a:endParaRPr lang="en-US" sz="850" dirty="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8D86CFB2-A3C5-941E-3B2E-A88430899C95}"/>
              </a:ext>
            </a:extLst>
          </p:cNvPr>
          <p:cNvSpPr/>
          <p:nvPr/>
        </p:nvSpPr>
        <p:spPr>
          <a:xfrm>
            <a:off x="5551537" y="-8096601"/>
            <a:ext cx="19445745" cy="4837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Perché visitare </a:t>
            </a:r>
            <a:r>
              <a:rPr lang="en-US" sz="3000" b="1" i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Biglietti</a:t>
            </a:r>
            <a:endParaRPr lang="en-US" sz="3000" dirty="0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AE97265B-9D98-273D-29A7-72DD1E5645FE}"/>
              </a:ext>
            </a:extLst>
          </p:cNvPr>
          <p:cNvSpPr/>
          <p:nvPr/>
        </p:nvSpPr>
        <p:spPr>
          <a:xfrm>
            <a:off x="-1539962" y="11053122"/>
            <a:ext cx="5202929" cy="4232451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E703F9CB-3566-A080-F1FC-AF5291098E12}"/>
              </a:ext>
            </a:extLst>
          </p:cNvPr>
          <p:cNvSpPr/>
          <p:nvPr/>
        </p:nvSpPr>
        <p:spPr>
          <a:xfrm>
            <a:off x="-10231018" y="13674990"/>
            <a:ext cx="13893985" cy="659607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B9ED2943-7421-1631-F05D-0ED41E713C24}"/>
              </a:ext>
            </a:extLst>
          </p:cNvPr>
          <p:cNvSpPr/>
          <p:nvPr/>
        </p:nvSpPr>
        <p:spPr>
          <a:xfrm>
            <a:off x="-875112" y="11347458"/>
            <a:ext cx="2956167" cy="32980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65143B8E-7E48-A08C-1302-B2494CA7A7F7}"/>
              </a:ext>
            </a:extLst>
          </p:cNvPr>
          <p:cNvSpPr/>
          <p:nvPr/>
        </p:nvSpPr>
        <p:spPr>
          <a:xfrm>
            <a:off x="-8871806" y="9120303"/>
            <a:ext cx="12415901" cy="6046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segreto del Bacio</a:t>
            </a:r>
            <a:endParaRPr lang="en-US" sz="1100" dirty="0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D19E4AB4-70A2-0746-24E2-1F372646A2AD}"/>
              </a:ext>
            </a:extLst>
          </p:cNvPr>
          <p:cNvSpPr/>
          <p:nvPr/>
        </p:nvSpPr>
        <p:spPr>
          <a:xfrm>
            <a:off x="-2273013" y="8882277"/>
            <a:ext cx="8267700" cy="6403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7A148CF4-A310-738F-66A1-E2C3AED59776}"/>
              </a:ext>
            </a:extLst>
          </p:cNvPr>
          <p:cNvSpPr/>
          <p:nvPr/>
        </p:nvSpPr>
        <p:spPr>
          <a:xfrm>
            <a:off x="-7899298" y="13674990"/>
            <a:ext cx="13893985" cy="659607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2B023FD7-D245-7A37-48DF-517E510A582A}"/>
              </a:ext>
            </a:extLst>
          </p:cNvPr>
          <p:cNvSpPr/>
          <p:nvPr/>
        </p:nvSpPr>
        <p:spPr>
          <a:xfrm>
            <a:off x="1456608" y="11347458"/>
            <a:ext cx="2956167" cy="32980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2006F647-1E40-2B02-8FAA-6EF45BFD3C63}"/>
              </a:ext>
            </a:extLst>
          </p:cNvPr>
          <p:cNvSpPr/>
          <p:nvPr/>
        </p:nvSpPr>
        <p:spPr>
          <a:xfrm>
            <a:off x="-6540086" y="9120303"/>
            <a:ext cx="12415901" cy="6046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Viaggio nella Parigi '50</a:t>
            </a:r>
            <a:endParaRPr lang="en-US" sz="1100" dirty="0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54B34C82-D20D-3C10-EDC9-B37096DEF439}"/>
              </a:ext>
            </a:extLst>
          </p:cNvPr>
          <p:cNvSpPr/>
          <p:nvPr/>
        </p:nvSpPr>
        <p:spPr>
          <a:xfrm>
            <a:off x="-1883162" y="9722699"/>
            <a:ext cx="5546129" cy="675159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B0580C9A-0E27-CB1C-F166-52712BB61B0A}"/>
              </a:ext>
            </a:extLst>
          </p:cNvPr>
          <p:cNvSpPr/>
          <p:nvPr/>
        </p:nvSpPr>
        <p:spPr>
          <a:xfrm>
            <a:off x="-10231018" y="14863710"/>
            <a:ext cx="13893985" cy="659607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D8EF0A94-23A6-7C27-BE52-222B373E3225}"/>
              </a:ext>
            </a:extLst>
          </p:cNvPr>
          <p:cNvSpPr/>
          <p:nvPr/>
        </p:nvSpPr>
        <p:spPr>
          <a:xfrm>
            <a:off x="-875112" y="12536178"/>
            <a:ext cx="2956167" cy="32980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3531D9AF-BF19-5B36-BF86-95D264FC526C}"/>
              </a:ext>
            </a:extLst>
          </p:cNvPr>
          <p:cNvSpPr/>
          <p:nvPr/>
        </p:nvSpPr>
        <p:spPr>
          <a:xfrm>
            <a:off x="-8871806" y="10309023"/>
            <a:ext cx="12415901" cy="6046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Arte per tutti</a:t>
            </a:r>
            <a:endParaRPr lang="en-US" sz="1100" dirty="0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C7DA71C1-D72D-010C-04E9-7082AF4B718E}"/>
              </a:ext>
            </a:extLst>
          </p:cNvPr>
          <p:cNvSpPr/>
          <p:nvPr/>
        </p:nvSpPr>
        <p:spPr>
          <a:xfrm>
            <a:off x="-1082762" y="12536178"/>
            <a:ext cx="7077449" cy="3938115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3" name="Shape 18">
            <a:extLst>
              <a:ext uri="{FF2B5EF4-FFF2-40B4-BE49-F238E27FC236}">
                <a16:creationId xmlns:a16="http://schemas.microsoft.com/office/drawing/2014/main" id="{88905CF6-4253-81C6-AA5A-34DDE0267493}"/>
              </a:ext>
            </a:extLst>
          </p:cNvPr>
          <p:cNvSpPr/>
          <p:nvPr/>
        </p:nvSpPr>
        <p:spPr>
          <a:xfrm>
            <a:off x="-7899298" y="14863710"/>
            <a:ext cx="13893985" cy="659607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DD3FD0A3-C2B1-CF99-2AEE-45BB84E69CBC}"/>
              </a:ext>
            </a:extLst>
          </p:cNvPr>
          <p:cNvSpPr/>
          <p:nvPr/>
        </p:nvSpPr>
        <p:spPr>
          <a:xfrm>
            <a:off x="1456608" y="12536178"/>
            <a:ext cx="2956167" cy="32980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57DB4466-FDFB-706F-51BA-00090B527BA1}"/>
              </a:ext>
            </a:extLst>
          </p:cNvPr>
          <p:cNvSpPr/>
          <p:nvPr/>
        </p:nvSpPr>
        <p:spPr>
          <a:xfrm>
            <a:off x="-6540086" y="10309023"/>
            <a:ext cx="12415901" cy="6046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Sostieni Pordenone 2027</a:t>
            </a:r>
            <a:endParaRPr lang="en-US" sz="1100" dirty="0"/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B6915C59-95C4-5327-8BA4-B4C0DCDEC9A4}"/>
              </a:ext>
            </a:extLst>
          </p:cNvPr>
          <p:cNvSpPr/>
          <p:nvPr/>
        </p:nvSpPr>
        <p:spPr>
          <a:xfrm>
            <a:off x="10032097" y="-15895276"/>
            <a:ext cx="8858617" cy="15082467"/>
          </a:xfrm>
          <a:prstGeom prst="rect">
            <a:avLst/>
          </a:prstGeom>
          <a:solidFill>
            <a:srgbClr val="2E2B28"/>
          </a:solidFill>
          <a:ln w="12700">
            <a:solidFill>
              <a:srgbClr val="3A363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3388C1C0-C5CC-341C-CE8D-246CD513DF33}"/>
              </a:ext>
            </a:extLst>
          </p:cNvPr>
          <p:cNvSpPr/>
          <p:nvPr/>
        </p:nvSpPr>
        <p:spPr>
          <a:xfrm>
            <a:off x="14022766" y="6438751"/>
            <a:ext cx="4311396" cy="2807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Perché visitare ]</a:t>
            </a:r>
            <a:endParaRPr lang="en-US" sz="1000" dirty="0"/>
          </a:p>
        </p:txBody>
      </p:sp>
      <p:sp>
        <p:nvSpPr>
          <p:cNvPr id="28" name="Shape 23">
            <a:extLst>
              <a:ext uri="{FF2B5EF4-FFF2-40B4-BE49-F238E27FC236}">
                <a16:creationId xmlns:a16="http://schemas.microsoft.com/office/drawing/2014/main" id="{7E045027-ECD9-45E8-A28B-7574A7B9AE52}"/>
              </a:ext>
            </a:extLst>
          </p:cNvPr>
          <p:cNvSpPr/>
          <p:nvPr/>
        </p:nvSpPr>
        <p:spPr>
          <a:xfrm>
            <a:off x="9542206" y="8038951"/>
            <a:ext cx="9464040" cy="4444480"/>
          </a:xfrm>
          <a:prstGeom prst="rect">
            <a:avLst/>
          </a:prstGeom>
          <a:solidFill>
            <a:srgbClr val="1A1917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D5A24C1A-98FE-CF38-AB96-6E42367672A2}"/>
              </a:ext>
            </a:extLst>
          </p:cNvPr>
          <p:cNvSpPr/>
          <p:nvPr/>
        </p:nvSpPr>
        <p:spPr>
          <a:xfrm>
            <a:off x="1214251" y="7173515"/>
            <a:ext cx="354740" cy="10443778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0" name="Text 25">
            <a:extLst>
              <a:ext uri="{FF2B5EF4-FFF2-40B4-BE49-F238E27FC236}">
                <a16:creationId xmlns:a16="http://schemas.microsoft.com/office/drawing/2014/main" id="{CF587523-7F30-EBDD-4285-53B5C75D24E7}"/>
              </a:ext>
            </a:extLst>
          </p:cNvPr>
          <p:cNvSpPr/>
          <p:nvPr/>
        </p:nvSpPr>
        <p:spPr>
          <a:xfrm>
            <a:off x="-13296795" y="14036207"/>
            <a:ext cx="17737002" cy="30781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Sezione Biglietti</a:t>
            </a:r>
            <a:endParaRPr lang="en-US" sz="1300" dirty="0"/>
          </a:p>
        </p:txBody>
      </p:sp>
      <p:sp>
        <p:nvSpPr>
          <p:cNvPr id="31" name="Text 26">
            <a:extLst>
              <a:ext uri="{FF2B5EF4-FFF2-40B4-BE49-F238E27FC236}">
                <a16:creationId xmlns:a16="http://schemas.microsoft.com/office/drawing/2014/main" id="{7AA40029-A56E-E54D-BBD2-C8E572171D18}"/>
              </a:ext>
            </a:extLst>
          </p:cNvPr>
          <p:cNvSpPr/>
          <p:nvPr/>
        </p:nvSpPr>
        <p:spPr>
          <a:xfrm>
            <a:off x="9725086" y="8422999"/>
            <a:ext cx="7360920" cy="1777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 12€  ·  Ridotto 9€  ·  Studenti 5€  ·  Gratuito  ·  ★ Combo "Sul Leggere" +5€</a:t>
            </a:r>
            <a:endParaRPr lang="en-US" sz="1000" dirty="0"/>
          </a:p>
        </p:txBody>
      </p:sp>
      <p:sp>
        <p:nvSpPr>
          <p:cNvPr id="32" name="Text 27">
            <a:extLst>
              <a:ext uri="{FF2B5EF4-FFF2-40B4-BE49-F238E27FC236}">
                <a16:creationId xmlns:a16="http://schemas.microsoft.com/office/drawing/2014/main" id="{AF37182D-3E67-0D36-F539-5643B0D4A2D2}"/>
              </a:ext>
            </a:extLst>
          </p:cNvPr>
          <p:cNvSpPr/>
          <p:nvPr/>
        </p:nvSpPr>
        <p:spPr>
          <a:xfrm>
            <a:off x="16400206" y="8240119"/>
            <a:ext cx="1367028" cy="2807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CTA sticky →</a:t>
            </a:r>
            <a:endParaRPr lang="en-US" sz="900" dirty="0"/>
          </a:p>
        </p:txBody>
      </p:sp>
      <p:sp>
        <p:nvSpPr>
          <p:cNvPr id="33" name="Text 28">
            <a:extLst>
              <a:ext uri="{FF2B5EF4-FFF2-40B4-BE49-F238E27FC236}">
                <a16:creationId xmlns:a16="http://schemas.microsoft.com/office/drawing/2014/main" id="{99CC1EA5-EF9F-83D4-ED56-166DE6937180}"/>
              </a:ext>
            </a:extLst>
          </p:cNvPr>
          <p:cNvSpPr/>
          <p:nvPr/>
        </p:nvSpPr>
        <p:spPr>
          <a:xfrm>
            <a:off x="9085006" y="8999071"/>
            <a:ext cx="10515600" cy="1309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Voyage — PyTech</a:t>
            </a:r>
            <a:endParaRPr lang="en-US" sz="800" dirty="0"/>
          </a:p>
        </p:txBody>
      </p:sp>
      <p:pic>
        <p:nvPicPr>
          <p:cNvPr id="34" name="Immagine 33">
            <a:extLst>
              <a:ext uri="{FF2B5EF4-FFF2-40B4-BE49-F238E27FC236}">
                <a16:creationId xmlns:a16="http://schemas.microsoft.com/office/drawing/2014/main" id="{3E00C602-EBC0-08ED-C393-2230518FC3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669" y="-15216180"/>
            <a:ext cx="22817631" cy="1434405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35" name="Immagine 34">
            <a:extLst>
              <a:ext uri="{FF2B5EF4-FFF2-40B4-BE49-F238E27FC236}">
                <a16:creationId xmlns:a16="http://schemas.microsoft.com/office/drawing/2014/main" id="{09EDD626-A62F-1419-6E9D-585EB3AF959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841" r="5242"/>
          <a:stretch>
            <a:fillRect/>
          </a:stretch>
        </p:blipFill>
        <p:spPr>
          <a:xfrm>
            <a:off x="-6441064" y="5295751"/>
            <a:ext cx="4018935" cy="312724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36" name="Shape 7">
            <a:extLst>
              <a:ext uri="{FF2B5EF4-FFF2-40B4-BE49-F238E27FC236}">
                <a16:creationId xmlns:a16="http://schemas.microsoft.com/office/drawing/2014/main" id="{35FE585F-FFB6-559B-4B9B-BC2FC7EEC85F}"/>
              </a:ext>
            </a:extLst>
          </p:cNvPr>
          <p:cNvSpPr/>
          <p:nvPr/>
        </p:nvSpPr>
        <p:spPr>
          <a:xfrm>
            <a:off x="11494212" y="-1013728"/>
            <a:ext cx="5057108" cy="4306824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Shape 8">
            <a:extLst>
              <a:ext uri="{FF2B5EF4-FFF2-40B4-BE49-F238E27FC236}">
                <a16:creationId xmlns:a16="http://schemas.microsoft.com/office/drawing/2014/main" id="{FFDB3352-557C-1491-1E21-973433F53288}"/>
              </a:ext>
            </a:extLst>
          </p:cNvPr>
          <p:cNvSpPr/>
          <p:nvPr/>
        </p:nvSpPr>
        <p:spPr>
          <a:xfrm>
            <a:off x="11494212" y="-1013728"/>
            <a:ext cx="60204" cy="4306824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8" name="Text 9">
            <a:extLst>
              <a:ext uri="{FF2B5EF4-FFF2-40B4-BE49-F238E27FC236}">
                <a16:creationId xmlns:a16="http://schemas.microsoft.com/office/drawing/2014/main" id="{17DBBA9E-37AF-2191-B9D5-A184FB93CC69}"/>
              </a:ext>
            </a:extLst>
          </p:cNvPr>
          <p:cNvSpPr/>
          <p:nvPr/>
        </p:nvSpPr>
        <p:spPr>
          <a:xfrm>
            <a:off x="11677092" y="1455152"/>
            <a:ext cx="469588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Articolo Featured</a:t>
            </a:r>
            <a:endParaRPr lang="en-US" sz="1200" dirty="0"/>
          </a:p>
        </p:txBody>
      </p:sp>
      <p:sp>
        <p:nvSpPr>
          <p:cNvPr id="39" name="Text 10">
            <a:extLst>
              <a:ext uri="{FF2B5EF4-FFF2-40B4-BE49-F238E27FC236}">
                <a16:creationId xmlns:a16="http://schemas.microsoft.com/office/drawing/2014/main" id="{B280212B-A8F4-A301-6896-6C67D8E9EF29}"/>
              </a:ext>
            </a:extLst>
          </p:cNvPr>
          <p:cNvSpPr/>
          <p:nvPr/>
        </p:nvSpPr>
        <p:spPr>
          <a:xfrm>
            <a:off x="11677092" y="1545185"/>
            <a:ext cx="4695886" cy="1656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2 colonne · immagine grande · badge "In evidenza"</a:t>
            </a:r>
            <a:endParaRPr lang="en-US" sz="950" dirty="0"/>
          </a:p>
        </p:txBody>
      </p:sp>
      <p:sp>
        <p:nvSpPr>
          <p:cNvPr id="40" name="Shape 11">
            <a:extLst>
              <a:ext uri="{FF2B5EF4-FFF2-40B4-BE49-F238E27FC236}">
                <a16:creationId xmlns:a16="http://schemas.microsoft.com/office/drawing/2014/main" id="{873E7050-7083-874D-40FA-7B90E3E3B227}"/>
              </a:ext>
            </a:extLst>
          </p:cNvPr>
          <p:cNvSpPr/>
          <p:nvPr/>
        </p:nvSpPr>
        <p:spPr>
          <a:xfrm>
            <a:off x="11494212" y="-190768"/>
            <a:ext cx="5057108" cy="4306824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1" name="Shape 12">
            <a:extLst>
              <a:ext uri="{FF2B5EF4-FFF2-40B4-BE49-F238E27FC236}">
                <a16:creationId xmlns:a16="http://schemas.microsoft.com/office/drawing/2014/main" id="{E3419197-D7AC-4A76-1B4E-25E81F02B67A}"/>
              </a:ext>
            </a:extLst>
          </p:cNvPr>
          <p:cNvSpPr/>
          <p:nvPr/>
        </p:nvSpPr>
        <p:spPr>
          <a:xfrm>
            <a:off x="11494212" y="-190768"/>
            <a:ext cx="60204" cy="4306824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2" name="Text 13">
            <a:extLst>
              <a:ext uri="{FF2B5EF4-FFF2-40B4-BE49-F238E27FC236}">
                <a16:creationId xmlns:a16="http://schemas.microsoft.com/office/drawing/2014/main" id="{F2147308-D902-AEAA-42A1-BD5FB7EC4378}"/>
              </a:ext>
            </a:extLst>
          </p:cNvPr>
          <p:cNvSpPr/>
          <p:nvPr/>
        </p:nvSpPr>
        <p:spPr>
          <a:xfrm>
            <a:off x="11677092" y="2278112"/>
            <a:ext cx="469588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Griglia 2×3 Articoli</a:t>
            </a:r>
            <a:endParaRPr lang="en-US" sz="1200" dirty="0"/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17FDAC2E-D725-C36D-E63B-B8CBC9FFFABE}"/>
              </a:ext>
            </a:extLst>
          </p:cNvPr>
          <p:cNvSpPr/>
          <p:nvPr/>
        </p:nvSpPr>
        <p:spPr>
          <a:xfrm>
            <a:off x="11677092" y="2368145"/>
            <a:ext cx="4695886" cy="1656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categorie SEO: storia, itinerari, famiglie, approfondimenti...</a:t>
            </a:r>
            <a:endParaRPr lang="en-US" sz="950" dirty="0"/>
          </a:p>
        </p:txBody>
      </p:sp>
      <p:sp>
        <p:nvSpPr>
          <p:cNvPr id="44" name="Shape 15">
            <a:extLst>
              <a:ext uri="{FF2B5EF4-FFF2-40B4-BE49-F238E27FC236}">
                <a16:creationId xmlns:a16="http://schemas.microsoft.com/office/drawing/2014/main" id="{43340D36-E13B-3820-D830-3445AA3B3912}"/>
              </a:ext>
            </a:extLst>
          </p:cNvPr>
          <p:cNvSpPr/>
          <p:nvPr/>
        </p:nvSpPr>
        <p:spPr>
          <a:xfrm>
            <a:off x="11494212" y="632192"/>
            <a:ext cx="5057108" cy="4306824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5" name="Shape 16">
            <a:extLst>
              <a:ext uri="{FF2B5EF4-FFF2-40B4-BE49-F238E27FC236}">
                <a16:creationId xmlns:a16="http://schemas.microsoft.com/office/drawing/2014/main" id="{640CAFE8-7902-C625-9730-5088EB78948B}"/>
              </a:ext>
            </a:extLst>
          </p:cNvPr>
          <p:cNvSpPr/>
          <p:nvPr/>
        </p:nvSpPr>
        <p:spPr>
          <a:xfrm>
            <a:off x="11494212" y="632192"/>
            <a:ext cx="60204" cy="4306824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6" name="Text 17">
            <a:extLst>
              <a:ext uri="{FF2B5EF4-FFF2-40B4-BE49-F238E27FC236}">
                <a16:creationId xmlns:a16="http://schemas.microsoft.com/office/drawing/2014/main" id="{D9E9084B-61C7-010B-E850-8020A8400E37}"/>
              </a:ext>
            </a:extLst>
          </p:cNvPr>
          <p:cNvSpPr/>
          <p:nvPr/>
        </p:nvSpPr>
        <p:spPr>
          <a:xfrm>
            <a:off x="11677092" y="3101072"/>
            <a:ext cx="469588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Sidebar Sticky</a:t>
            </a:r>
            <a:endParaRPr lang="en-US" sz="1200" dirty="0"/>
          </a:p>
        </p:txBody>
      </p:sp>
      <p:sp>
        <p:nvSpPr>
          <p:cNvPr id="47" name="Text 18">
            <a:extLst>
              <a:ext uri="{FF2B5EF4-FFF2-40B4-BE49-F238E27FC236}">
                <a16:creationId xmlns:a16="http://schemas.microsoft.com/office/drawing/2014/main" id="{C443EDE6-9BFD-5083-F2C8-5D6D6FFBC1AA}"/>
              </a:ext>
            </a:extLst>
          </p:cNvPr>
          <p:cNvSpPr/>
          <p:nvPr/>
        </p:nvSpPr>
        <p:spPr>
          <a:xfrm>
            <a:off x="11677092" y="3191105"/>
            <a:ext cx="4695886" cy="1656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Countdown · Info mostra · Tag cloud · Social CTA</a:t>
            </a:r>
            <a:endParaRPr lang="en-US" sz="950" dirty="0"/>
          </a:p>
        </p:txBody>
      </p:sp>
      <p:sp>
        <p:nvSpPr>
          <p:cNvPr id="48" name="Shape 19">
            <a:extLst>
              <a:ext uri="{FF2B5EF4-FFF2-40B4-BE49-F238E27FC236}">
                <a16:creationId xmlns:a16="http://schemas.microsoft.com/office/drawing/2014/main" id="{DFF08659-C08A-F955-817B-280F68E1E55F}"/>
              </a:ext>
            </a:extLst>
          </p:cNvPr>
          <p:cNvSpPr/>
          <p:nvPr/>
        </p:nvSpPr>
        <p:spPr>
          <a:xfrm>
            <a:off x="11494212" y="1455152"/>
            <a:ext cx="5057108" cy="4306824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9" name="Shape 20">
            <a:extLst>
              <a:ext uri="{FF2B5EF4-FFF2-40B4-BE49-F238E27FC236}">
                <a16:creationId xmlns:a16="http://schemas.microsoft.com/office/drawing/2014/main" id="{3D6BC9B0-8351-C78F-5925-8C0179373FF4}"/>
              </a:ext>
            </a:extLst>
          </p:cNvPr>
          <p:cNvSpPr/>
          <p:nvPr/>
        </p:nvSpPr>
        <p:spPr>
          <a:xfrm>
            <a:off x="11494212" y="1455152"/>
            <a:ext cx="60204" cy="4306824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0" name="Text 21">
            <a:extLst>
              <a:ext uri="{FF2B5EF4-FFF2-40B4-BE49-F238E27FC236}">
                <a16:creationId xmlns:a16="http://schemas.microsoft.com/office/drawing/2014/main" id="{A85D1F9D-C6DC-89E6-55D7-18C12D249432}"/>
              </a:ext>
            </a:extLst>
          </p:cNvPr>
          <p:cNvSpPr/>
          <p:nvPr/>
        </p:nvSpPr>
        <p:spPr>
          <a:xfrm>
            <a:off x="11677092" y="3924032"/>
            <a:ext cx="469588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Contenuto long-tail</a:t>
            </a:r>
            <a:endParaRPr lang="en-US" sz="1200" dirty="0"/>
          </a:p>
        </p:txBody>
      </p:sp>
      <p:sp>
        <p:nvSpPr>
          <p:cNvPr id="51" name="Text 22">
            <a:extLst>
              <a:ext uri="{FF2B5EF4-FFF2-40B4-BE49-F238E27FC236}">
                <a16:creationId xmlns:a16="http://schemas.microsoft.com/office/drawing/2014/main" id="{7D9863DB-4993-10A8-5799-2B6C21E08E2F}"/>
              </a:ext>
            </a:extLst>
          </p:cNvPr>
          <p:cNvSpPr/>
          <p:nvPr/>
        </p:nvSpPr>
        <p:spPr>
          <a:xfrm>
            <a:off x="11677092" y="4014065"/>
            <a:ext cx="4695886" cy="1656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articolo punta query specifiche ad alta intenzione d'acquisto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9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7863840" y="182880"/>
            <a:ext cx="1097280" cy="292608"/>
          </a:xfrm>
          <a:prstGeom prst="rect">
            <a:avLst/>
          </a:prstGeom>
          <a:solidFill>
            <a:srgbClr val="C27A48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7863840" y="1828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560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 &amp; FAQ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Area </a:t>
            </a:r>
            <a:r>
              <a:rPr lang="en-US" sz="3200" b="1" i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Blog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4114800" cy="3200400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457200" y="26974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Blog + Sidebar ]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846320" y="1463040"/>
            <a:ext cx="3840480" cy="713232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4846320" y="1463040"/>
            <a:ext cx="45720" cy="713232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5029200" y="153619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Articolo Featured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0" y="1810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2 colonne · immagine grande · badge "In evidenza"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46320" y="2286000"/>
            <a:ext cx="3840480" cy="713232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Shape 12"/>
          <p:cNvSpPr/>
          <p:nvPr/>
        </p:nvSpPr>
        <p:spPr>
          <a:xfrm>
            <a:off x="4846320" y="2286000"/>
            <a:ext cx="45720" cy="713232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5029200" y="235915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Griglia 2×3 Articoli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0" y="26334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categorie SEO: storia, itinerari, famiglie, approfondimenti...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46320" y="3108960"/>
            <a:ext cx="3840480" cy="713232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Shape 16"/>
          <p:cNvSpPr/>
          <p:nvPr/>
        </p:nvSpPr>
        <p:spPr>
          <a:xfrm>
            <a:off x="4846320" y="3108960"/>
            <a:ext cx="45720" cy="713232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5029200" y="31821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Sidebar Sticky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0" y="34564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Countdown · Info mostra · Tag cloud · Social CTA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46320" y="3931920"/>
            <a:ext cx="3840480" cy="713232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4846320" y="3931920"/>
            <a:ext cx="45720" cy="713232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5029200" y="40050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Contenuto long-tail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0" y="42793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articolo punta query specifiche ad alta intenzione d'acquisto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Voyage — PyTech</a:t>
            </a:r>
            <a:endParaRPr lang="en-US" sz="800" dirty="0"/>
          </a:p>
        </p:txBody>
      </p:sp>
      <p:pic>
        <p:nvPicPr>
          <p:cNvPr id="29" name="Immagine 28">
            <a:extLst>
              <a:ext uri="{FF2B5EF4-FFF2-40B4-BE49-F238E27FC236}">
                <a16:creationId xmlns:a16="http://schemas.microsoft.com/office/drawing/2014/main" id="{7319D268-B5F3-4E44-03D2-62604BA637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41" r="5242"/>
          <a:stretch>
            <a:fillRect/>
          </a:stretch>
        </p:blipFill>
        <p:spPr>
          <a:xfrm>
            <a:off x="507345" y="1517904"/>
            <a:ext cx="4018935" cy="312724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6" name="Shape 0">
            <a:extLst>
              <a:ext uri="{FF2B5EF4-FFF2-40B4-BE49-F238E27FC236}">
                <a16:creationId xmlns:a16="http://schemas.microsoft.com/office/drawing/2014/main" id="{9109695E-A70E-5ED9-40A1-507667D08E35}"/>
              </a:ext>
            </a:extLst>
          </p:cNvPr>
          <p:cNvSpPr/>
          <p:nvPr/>
        </p:nvSpPr>
        <p:spPr>
          <a:xfrm>
            <a:off x="9601201" y="-10112821"/>
            <a:ext cx="9761956" cy="9280865"/>
          </a:xfrm>
          <a:prstGeom prst="ellipse">
            <a:avLst/>
          </a:prstGeom>
          <a:solidFill>
            <a:srgbClr val="3A2418">
              <a:alpha val="55000"/>
            </a:srgbClr>
          </a:solidFill>
          <a:ln w="12700">
            <a:solidFill>
              <a:srgbClr val="3A241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1">
            <a:extLst>
              <a:ext uri="{FF2B5EF4-FFF2-40B4-BE49-F238E27FC236}">
                <a16:creationId xmlns:a16="http://schemas.microsoft.com/office/drawing/2014/main" id="{020CF81A-19D5-3792-A19E-398CF135A341}"/>
              </a:ext>
            </a:extLst>
          </p:cNvPr>
          <p:cNvSpPr/>
          <p:nvPr/>
        </p:nvSpPr>
        <p:spPr>
          <a:xfrm>
            <a:off x="-10430846" y="5492033"/>
            <a:ext cx="7809566" cy="611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53BB0AF6-F672-668C-BC11-05E551BCDAD6}"/>
              </a:ext>
            </a:extLst>
          </p:cNvPr>
          <p:cNvSpPr/>
          <p:nvPr/>
        </p:nvSpPr>
        <p:spPr>
          <a:xfrm>
            <a:off x="-10756244" y="4733554"/>
            <a:ext cx="9761956" cy="384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Blog &amp;</a:t>
            </a:r>
            <a:endParaRPr lang="en-US" sz="5600" dirty="0"/>
          </a:p>
          <a:p>
            <a:pPr marL="0" indent="0">
              <a:buNone/>
            </a:pPr>
            <a:r>
              <a:rPr lang="en-US" sz="5600" b="1" i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FAQ</a:t>
            </a:r>
            <a:endParaRPr lang="en-US" sz="5600" dirty="0"/>
          </a:p>
        </p:txBody>
      </p:sp>
      <p:sp>
        <p:nvSpPr>
          <p:cNvPr id="30" name="Shape 0">
            <a:extLst>
              <a:ext uri="{FF2B5EF4-FFF2-40B4-BE49-F238E27FC236}">
                <a16:creationId xmlns:a16="http://schemas.microsoft.com/office/drawing/2014/main" id="{663030FD-AFDC-489F-002D-5B9A64236447}"/>
              </a:ext>
            </a:extLst>
          </p:cNvPr>
          <p:cNvSpPr/>
          <p:nvPr/>
        </p:nvSpPr>
        <p:spPr>
          <a:xfrm>
            <a:off x="-1923266" y="-5651440"/>
            <a:ext cx="25765125" cy="317690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1" name="Shape 1">
            <a:extLst>
              <a:ext uri="{FF2B5EF4-FFF2-40B4-BE49-F238E27FC236}">
                <a16:creationId xmlns:a16="http://schemas.microsoft.com/office/drawing/2014/main" id="{C48A3E94-A54C-B169-3AE2-BBB44E5CB89D}"/>
              </a:ext>
            </a:extLst>
          </p:cNvPr>
          <p:cNvSpPr/>
          <p:nvPr/>
        </p:nvSpPr>
        <p:spPr>
          <a:xfrm>
            <a:off x="5940574" y="-5468560"/>
            <a:ext cx="3091815" cy="1694344"/>
          </a:xfrm>
          <a:prstGeom prst="rect">
            <a:avLst/>
          </a:prstGeom>
          <a:solidFill>
            <a:srgbClr val="C27A48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2" name="Text 2">
            <a:extLst>
              <a:ext uri="{FF2B5EF4-FFF2-40B4-BE49-F238E27FC236}">
                <a16:creationId xmlns:a16="http://schemas.microsoft.com/office/drawing/2014/main" id="{C2E70FF2-DC32-EA29-67AB-4B27572038A1}"/>
              </a:ext>
            </a:extLst>
          </p:cNvPr>
          <p:cNvSpPr/>
          <p:nvPr/>
        </p:nvSpPr>
        <p:spPr>
          <a:xfrm>
            <a:off x="5940574" y="-5468560"/>
            <a:ext cx="3091815" cy="1694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Lollo</a:t>
            </a:r>
            <a:endParaRPr lang="en-US" sz="1000" dirty="0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6B39C580-E7AE-71DA-6C88-48841F11559A}"/>
              </a:ext>
            </a:extLst>
          </p:cNvPr>
          <p:cNvSpPr/>
          <p:nvPr/>
        </p:nvSpPr>
        <p:spPr>
          <a:xfrm>
            <a:off x="-1466065" y="-5395408"/>
            <a:ext cx="19323844" cy="158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 —  STRATEGIA DI CONTENUTO</a:t>
            </a:r>
            <a:endParaRPr lang="en-US" sz="850" dirty="0"/>
          </a:p>
        </p:txBody>
      </p:sp>
      <p:sp>
        <p:nvSpPr>
          <p:cNvPr id="34" name="Text 4">
            <a:extLst>
              <a:ext uri="{FF2B5EF4-FFF2-40B4-BE49-F238E27FC236}">
                <a16:creationId xmlns:a16="http://schemas.microsoft.com/office/drawing/2014/main" id="{C90B407C-9D9E-7ACF-4463-C913DB3B5693}"/>
              </a:ext>
            </a:extLst>
          </p:cNvPr>
          <p:cNvSpPr/>
          <p:nvPr/>
        </p:nvSpPr>
        <p:spPr>
          <a:xfrm>
            <a:off x="-1466066" y="-5102801"/>
            <a:ext cx="23188613" cy="5294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Come il blog porta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 err="1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persone</a:t>
            </a:r>
            <a:r>
              <a:rPr lang="en-US" sz="28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2800" b="1" i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 sito</a:t>
            </a:r>
            <a:endParaRPr lang="en-US" sz="2800" dirty="0"/>
          </a:p>
        </p:txBody>
      </p:sp>
      <p:sp>
        <p:nvSpPr>
          <p:cNvPr id="35" name="Shape 5">
            <a:extLst>
              <a:ext uri="{FF2B5EF4-FFF2-40B4-BE49-F238E27FC236}">
                <a16:creationId xmlns:a16="http://schemas.microsoft.com/office/drawing/2014/main" id="{6537CBD7-0842-9649-F2AD-51C8AD062570}"/>
              </a:ext>
            </a:extLst>
          </p:cNvPr>
          <p:cNvSpPr/>
          <p:nvPr/>
        </p:nvSpPr>
        <p:spPr>
          <a:xfrm>
            <a:off x="-9583746" y="7285780"/>
            <a:ext cx="6706721" cy="354797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6" name="Text 6">
            <a:extLst>
              <a:ext uri="{FF2B5EF4-FFF2-40B4-BE49-F238E27FC236}">
                <a16:creationId xmlns:a16="http://schemas.microsoft.com/office/drawing/2014/main" id="{3B745D03-3F07-BDB9-D69C-581BFBA5F917}"/>
              </a:ext>
            </a:extLst>
          </p:cNvPr>
          <p:cNvSpPr/>
          <p:nvPr/>
        </p:nvSpPr>
        <p:spPr>
          <a:xfrm>
            <a:off x="-9014935" y="7395508"/>
            <a:ext cx="6000750" cy="709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🔍  Long-tail SEO</a:t>
            </a:r>
            <a:endParaRPr lang="en-US" sz="1100" dirty="0"/>
          </a:p>
        </p:txBody>
      </p:sp>
      <p:sp>
        <p:nvSpPr>
          <p:cNvPr id="37" name="Text 7">
            <a:extLst>
              <a:ext uri="{FF2B5EF4-FFF2-40B4-BE49-F238E27FC236}">
                <a16:creationId xmlns:a16="http://schemas.microsoft.com/office/drawing/2014/main" id="{62C4D26C-C401-875D-9780-B70DFBAFC2E8}"/>
              </a:ext>
            </a:extLst>
          </p:cNvPr>
          <p:cNvSpPr/>
          <p:nvPr/>
        </p:nvSpPr>
        <p:spPr>
          <a:xfrm>
            <a:off x="-9014935" y="7724692"/>
            <a:ext cx="6000750" cy="21287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Articoli mirati su query specifiche ad alta intenzione: 'storia bacio doisneau messo in scena', 'mostra Doisneau Pordenone 2026'.</a:t>
            </a:r>
            <a:endParaRPr lang="en-US" sz="850" dirty="0"/>
          </a:p>
        </p:txBody>
      </p:sp>
      <p:sp>
        <p:nvSpPr>
          <p:cNvPr id="38" name="Shape 8">
            <a:extLst>
              <a:ext uri="{FF2B5EF4-FFF2-40B4-BE49-F238E27FC236}">
                <a16:creationId xmlns:a16="http://schemas.microsoft.com/office/drawing/2014/main" id="{F079D962-F731-8B71-1844-2E2509456F04}"/>
              </a:ext>
            </a:extLst>
          </p:cNvPr>
          <p:cNvSpPr/>
          <p:nvPr/>
        </p:nvSpPr>
        <p:spPr>
          <a:xfrm>
            <a:off x="911374" y="10122408"/>
            <a:ext cx="6706721" cy="354797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9" name="Text 9">
            <a:extLst>
              <a:ext uri="{FF2B5EF4-FFF2-40B4-BE49-F238E27FC236}">
                <a16:creationId xmlns:a16="http://schemas.microsoft.com/office/drawing/2014/main" id="{CC61A0F7-1185-BB68-C2E7-2E80AA91C7A4}"/>
              </a:ext>
            </a:extLst>
          </p:cNvPr>
          <p:cNvSpPr/>
          <p:nvPr/>
        </p:nvSpPr>
        <p:spPr>
          <a:xfrm>
            <a:off x="1480185" y="10232136"/>
            <a:ext cx="6000750" cy="709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📱  Leva Social</a:t>
            </a:r>
            <a:endParaRPr lang="en-US" sz="1100" dirty="0"/>
          </a:p>
        </p:txBody>
      </p:sp>
      <p:sp>
        <p:nvSpPr>
          <p:cNvPr id="40" name="Text 10">
            <a:extLst>
              <a:ext uri="{FF2B5EF4-FFF2-40B4-BE49-F238E27FC236}">
                <a16:creationId xmlns:a16="http://schemas.microsoft.com/office/drawing/2014/main" id="{99D9354A-4E3A-24CF-C80D-1ECCE2A48D10}"/>
              </a:ext>
            </a:extLst>
          </p:cNvPr>
          <p:cNvSpPr/>
          <p:nvPr/>
        </p:nvSpPr>
        <p:spPr>
          <a:xfrm>
            <a:off x="1480185" y="10561320"/>
            <a:ext cx="6000750" cy="21287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 Reels Instagram/TikTok + challenge 'Ricrea il Bacio a Pordenone' — user generated content.</a:t>
            </a:r>
            <a:endParaRPr lang="en-US" sz="850" dirty="0"/>
          </a:p>
        </p:txBody>
      </p:sp>
      <p:sp>
        <p:nvSpPr>
          <p:cNvPr id="41" name="Shape 11">
            <a:extLst>
              <a:ext uri="{FF2B5EF4-FFF2-40B4-BE49-F238E27FC236}">
                <a16:creationId xmlns:a16="http://schemas.microsoft.com/office/drawing/2014/main" id="{F98514C6-8074-0F3D-F4A0-97504F745BFF}"/>
              </a:ext>
            </a:extLst>
          </p:cNvPr>
          <p:cNvSpPr/>
          <p:nvPr/>
        </p:nvSpPr>
        <p:spPr>
          <a:xfrm>
            <a:off x="10452735" y="7013350"/>
            <a:ext cx="6706721" cy="354797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2" name="Text 12">
            <a:extLst>
              <a:ext uri="{FF2B5EF4-FFF2-40B4-BE49-F238E27FC236}">
                <a16:creationId xmlns:a16="http://schemas.microsoft.com/office/drawing/2014/main" id="{4A97D22D-61B7-715C-C09A-5F7B81CA5AA7}"/>
              </a:ext>
            </a:extLst>
          </p:cNvPr>
          <p:cNvSpPr/>
          <p:nvPr/>
        </p:nvSpPr>
        <p:spPr>
          <a:xfrm>
            <a:off x="11021546" y="7123078"/>
            <a:ext cx="6000750" cy="709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⏰  Leva Temporale</a:t>
            </a:r>
            <a:endParaRPr lang="en-US" sz="1100" dirty="0"/>
          </a:p>
        </p:txBody>
      </p:sp>
      <p:sp>
        <p:nvSpPr>
          <p:cNvPr id="43" name="Text 13">
            <a:extLst>
              <a:ext uri="{FF2B5EF4-FFF2-40B4-BE49-F238E27FC236}">
                <a16:creationId xmlns:a16="http://schemas.microsoft.com/office/drawing/2014/main" id="{68FFB256-000D-41E3-03F5-C46EAD734173}"/>
              </a:ext>
            </a:extLst>
          </p:cNvPr>
          <p:cNvSpPr/>
          <p:nvPr/>
        </p:nvSpPr>
        <p:spPr>
          <a:xfrm>
            <a:off x="11021546" y="7452262"/>
            <a:ext cx="6000750" cy="21287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Countdown 6 aprile 2026. Urgenza reale: dopo quella data il Bacio torna negli archivi privati.</a:t>
            </a:r>
            <a:endParaRPr lang="en-US" sz="850" dirty="0"/>
          </a:p>
        </p:txBody>
      </p:sp>
      <p:sp>
        <p:nvSpPr>
          <p:cNvPr id="44" name="Shape 14">
            <a:extLst>
              <a:ext uri="{FF2B5EF4-FFF2-40B4-BE49-F238E27FC236}">
                <a16:creationId xmlns:a16="http://schemas.microsoft.com/office/drawing/2014/main" id="{58319DE2-7D17-48E4-8595-F7FC5A8795CF}"/>
              </a:ext>
            </a:extLst>
          </p:cNvPr>
          <p:cNvSpPr/>
          <p:nvPr/>
        </p:nvSpPr>
        <p:spPr>
          <a:xfrm>
            <a:off x="-9583746" y="8840260"/>
            <a:ext cx="6706721" cy="354797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5" name="Text 15">
            <a:extLst>
              <a:ext uri="{FF2B5EF4-FFF2-40B4-BE49-F238E27FC236}">
                <a16:creationId xmlns:a16="http://schemas.microsoft.com/office/drawing/2014/main" id="{2C1318F4-AFF1-0F62-7215-FE2BA21FA916}"/>
              </a:ext>
            </a:extLst>
          </p:cNvPr>
          <p:cNvSpPr/>
          <p:nvPr/>
        </p:nvSpPr>
        <p:spPr>
          <a:xfrm>
            <a:off x="-9014935" y="8949988"/>
            <a:ext cx="6000750" cy="709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💰  Leva Economica</a:t>
            </a:r>
            <a:endParaRPr lang="en-US" sz="1100" dirty="0"/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3805A728-CBA0-30D0-D379-51FFE7B340A9}"/>
              </a:ext>
            </a:extLst>
          </p:cNvPr>
          <p:cNvSpPr/>
          <p:nvPr/>
        </p:nvSpPr>
        <p:spPr>
          <a:xfrm>
            <a:off x="-9014935" y="9279172"/>
            <a:ext cx="6000750" cy="21287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Combo 'Sul Leggere': Doisneau + Arthur + Furuya. 3×1 culturale che giustifica il viaggio da fuori.</a:t>
            </a:r>
            <a:endParaRPr lang="en-US" sz="850" dirty="0"/>
          </a:p>
        </p:txBody>
      </p:sp>
      <p:sp>
        <p:nvSpPr>
          <p:cNvPr id="47" name="Shape 17">
            <a:extLst>
              <a:ext uri="{FF2B5EF4-FFF2-40B4-BE49-F238E27FC236}">
                <a16:creationId xmlns:a16="http://schemas.microsoft.com/office/drawing/2014/main" id="{39FDE11C-D27D-22F5-4FF3-FD28F2DECCD7}"/>
              </a:ext>
            </a:extLst>
          </p:cNvPr>
          <p:cNvSpPr/>
          <p:nvPr/>
        </p:nvSpPr>
        <p:spPr>
          <a:xfrm>
            <a:off x="911374" y="11676888"/>
            <a:ext cx="6706721" cy="354797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8" name="Text 18">
            <a:extLst>
              <a:ext uri="{FF2B5EF4-FFF2-40B4-BE49-F238E27FC236}">
                <a16:creationId xmlns:a16="http://schemas.microsoft.com/office/drawing/2014/main" id="{AF4C2835-8446-4DF2-7718-35E08F21EACB}"/>
              </a:ext>
            </a:extLst>
          </p:cNvPr>
          <p:cNvSpPr/>
          <p:nvPr/>
        </p:nvSpPr>
        <p:spPr>
          <a:xfrm>
            <a:off x="1480185" y="11786616"/>
            <a:ext cx="6000750" cy="709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🚂  Leva Logistica</a:t>
            </a:r>
            <a:endParaRPr lang="en-US" sz="1100" dirty="0"/>
          </a:p>
        </p:txBody>
      </p:sp>
      <p:sp>
        <p:nvSpPr>
          <p:cNvPr id="49" name="Text 19">
            <a:extLst>
              <a:ext uri="{FF2B5EF4-FFF2-40B4-BE49-F238E27FC236}">
                <a16:creationId xmlns:a16="http://schemas.microsoft.com/office/drawing/2014/main" id="{122C199A-CF53-8094-A117-9C25679B1782}"/>
              </a:ext>
            </a:extLst>
          </p:cNvPr>
          <p:cNvSpPr/>
          <p:nvPr/>
        </p:nvSpPr>
        <p:spPr>
          <a:xfrm>
            <a:off x="1480185" y="12115800"/>
            <a:ext cx="6000750" cy="21287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 a piedi dalla stazione. Treni diretti da Venezia (&lt;1h). Sezione 'Non sei di Pordenone?' dedicata.</a:t>
            </a:r>
            <a:endParaRPr lang="en-US" sz="850" dirty="0"/>
          </a:p>
        </p:txBody>
      </p:sp>
      <p:sp>
        <p:nvSpPr>
          <p:cNvPr id="50" name="Shape 20">
            <a:extLst>
              <a:ext uri="{FF2B5EF4-FFF2-40B4-BE49-F238E27FC236}">
                <a16:creationId xmlns:a16="http://schemas.microsoft.com/office/drawing/2014/main" id="{0B82ED0A-800D-D983-46A4-21F2D2309B60}"/>
              </a:ext>
            </a:extLst>
          </p:cNvPr>
          <p:cNvSpPr/>
          <p:nvPr/>
        </p:nvSpPr>
        <p:spPr>
          <a:xfrm>
            <a:off x="10452735" y="8567830"/>
            <a:ext cx="6706721" cy="354797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1" name="Text 21">
            <a:extLst>
              <a:ext uri="{FF2B5EF4-FFF2-40B4-BE49-F238E27FC236}">
                <a16:creationId xmlns:a16="http://schemas.microsoft.com/office/drawing/2014/main" id="{011910A2-1339-DD9B-F271-C2676542B8EA}"/>
              </a:ext>
            </a:extLst>
          </p:cNvPr>
          <p:cNvSpPr/>
          <p:nvPr/>
        </p:nvSpPr>
        <p:spPr>
          <a:xfrm>
            <a:off x="11021546" y="8677558"/>
            <a:ext cx="6000750" cy="709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🤝  Sunday Photowalk</a:t>
            </a:r>
            <a:endParaRPr lang="en-US" sz="1100" dirty="0"/>
          </a:p>
        </p:txBody>
      </p:sp>
      <p:sp>
        <p:nvSpPr>
          <p:cNvPr id="52" name="Text 22">
            <a:extLst>
              <a:ext uri="{FF2B5EF4-FFF2-40B4-BE49-F238E27FC236}">
                <a16:creationId xmlns:a16="http://schemas.microsoft.com/office/drawing/2014/main" id="{24ACB87C-4FAD-0A11-7426-904391084DA5}"/>
              </a:ext>
            </a:extLst>
          </p:cNvPr>
          <p:cNvSpPr/>
          <p:nvPr/>
        </p:nvSpPr>
        <p:spPr>
          <a:xfrm>
            <a:off x="11021546" y="9006742"/>
            <a:ext cx="6000750" cy="21287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Piccoli gruppi guidati da un fotografo locale dopo la mostra. Networking + UGC social.</a:t>
            </a:r>
            <a:endParaRPr lang="en-US" sz="850" dirty="0"/>
          </a:p>
        </p:txBody>
      </p:sp>
      <p:sp>
        <p:nvSpPr>
          <p:cNvPr id="53" name="Text 23">
            <a:extLst>
              <a:ext uri="{FF2B5EF4-FFF2-40B4-BE49-F238E27FC236}">
                <a16:creationId xmlns:a16="http://schemas.microsoft.com/office/drawing/2014/main" id="{5153F357-EDBA-11CD-F8AC-89601D67F361}"/>
              </a:ext>
            </a:extLst>
          </p:cNvPr>
          <p:cNvSpPr/>
          <p:nvPr/>
        </p:nvSpPr>
        <p:spPr>
          <a:xfrm>
            <a:off x="-182880" y="1135684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Voyage — PyTech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B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7863840" y="182880"/>
            <a:ext cx="1097280" cy="292608"/>
          </a:xfrm>
          <a:prstGeom prst="rect">
            <a:avLst/>
          </a:prstGeom>
          <a:solidFill>
            <a:srgbClr val="C27A48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7863840" y="1828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Lollo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560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 —  STRATEGIA DI CONTENUTO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Come il blog porta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 err="1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persone</a:t>
            </a:r>
            <a:r>
              <a:rPr lang="en-US" sz="28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2800" b="1" i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 sito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94360" y="17099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🔍  Long-tail SEO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2039112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Articoli mirati su query specifiche ad alta intenzione: 'storia bacio doisneau messo in scena', 'mostra Doisneau Pordenone 2026'.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91840" y="160020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3429000" y="17099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📱  Leva Social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29000" y="2039112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 Reels Instagram/TikTok + challenge 'Ricrea il Bacio a Pordenone' — user generated content.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126480" y="160020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6263640" y="17099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⏰  Leva Temporale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63640" y="2039112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Countdown 6 aprile 2026. Urgenza reale: dopo quella data il Bacio torna negli archivi privati.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315468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594360" y="32644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💰  Leva Economica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3593592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Combo 'Sul Leggere': Doisneau + Arthur + Furuya. 3×1 culturale che giustifica il viaggio da fuori.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91840" y="315468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3429000" y="32644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🚂  Leva Logistica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29000" y="3593592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 a piedi dalla stazione. Treni diretti da Venezia (&lt;1h). Sezione 'Non sei di Pordenone?' dedicata.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26480" y="315468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6263640" y="32644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🤝  Sunday Photowalk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63640" y="3593592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Piccoli gruppi guidati da un fotografo locale dopo la mostra. Networking + UGC social.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Voyage — PyTech</a:t>
            </a:r>
            <a:endParaRPr lang="en-US" sz="800" dirty="0"/>
          </a:p>
        </p:txBody>
      </p:sp>
      <p:sp>
        <p:nvSpPr>
          <p:cNvPr id="26" name="Shape 0">
            <a:extLst>
              <a:ext uri="{FF2B5EF4-FFF2-40B4-BE49-F238E27FC236}">
                <a16:creationId xmlns:a16="http://schemas.microsoft.com/office/drawing/2014/main" id="{EFAEEF02-BC4B-4C20-9614-80E64168AB40}"/>
              </a:ext>
            </a:extLst>
          </p:cNvPr>
          <p:cNvSpPr/>
          <p:nvPr/>
        </p:nvSpPr>
        <p:spPr>
          <a:xfrm>
            <a:off x="7610167" y="-6651476"/>
            <a:ext cx="31807358" cy="515705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7" name="Shape 1">
            <a:extLst>
              <a:ext uri="{FF2B5EF4-FFF2-40B4-BE49-F238E27FC236}">
                <a16:creationId xmlns:a16="http://schemas.microsoft.com/office/drawing/2014/main" id="{BD3E09E1-65F7-9CFB-3B52-86F22E9DAD73}"/>
              </a:ext>
            </a:extLst>
          </p:cNvPr>
          <p:cNvSpPr/>
          <p:nvPr/>
        </p:nvSpPr>
        <p:spPr>
          <a:xfrm>
            <a:off x="15474006" y="-8465574"/>
            <a:ext cx="3816883" cy="2750427"/>
          </a:xfrm>
          <a:prstGeom prst="rect">
            <a:avLst/>
          </a:prstGeom>
          <a:solidFill>
            <a:srgbClr val="C27A48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61F3A6A2-2515-B01E-F1FD-AB8DF97FC465}"/>
              </a:ext>
            </a:extLst>
          </p:cNvPr>
          <p:cNvSpPr/>
          <p:nvPr/>
        </p:nvSpPr>
        <p:spPr>
          <a:xfrm>
            <a:off x="15474006" y="-8465574"/>
            <a:ext cx="3816883" cy="2750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Ruben</a:t>
            </a:r>
            <a:endParaRPr lang="en-US" sz="1000" dirty="0"/>
          </a:p>
        </p:txBody>
      </p:sp>
      <p:sp>
        <p:nvSpPr>
          <p:cNvPr id="29" name="Text 3">
            <a:extLst>
              <a:ext uri="{FF2B5EF4-FFF2-40B4-BE49-F238E27FC236}">
                <a16:creationId xmlns:a16="http://schemas.microsoft.com/office/drawing/2014/main" id="{9E6B39EC-7D42-0034-6F39-F3BA42774CEA}"/>
              </a:ext>
            </a:extLst>
          </p:cNvPr>
          <p:cNvSpPr/>
          <p:nvPr/>
        </p:nvSpPr>
        <p:spPr>
          <a:xfrm>
            <a:off x="8067366" y="-8238808"/>
            <a:ext cx="23855519" cy="25785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 &amp; FAQ</a:t>
            </a:r>
            <a:endParaRPr lang="en-US" sz="850" dirty="0"/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2135A6A7-47CB-380F-E673-F996BC630041}"/>
              </a:ext>
            </a:extLst>
          </p:cNvPr>
          <p:cNvSpPr/>
          <p:nvPr/>
        </p:nvSpPr>
        <p:spPr>
          <a:xfrm>
            <a:off x="-8561575" y="5060089"/>
            <a:ext cx="6878647" cy="1844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Area </a:t>
            </a:r>
            <a:r>
              <a:rPr lang="en-US" sz="3200" b="1" i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Blog</a:t>
            </a:r>
            <a:endParaRPr lang="en-US" sz="3200" dirty="0"/>
          </a:p>
        </p:txBody>
      </p:sp>
      <p:sp>
        <p:nvSpPr>
          <p:cNvPr id="31" name="Shape 5">
            <a:extLst>
              <a:ext uri="{FF2B5EF4-FFF2-40B4-BE49-F238E27FC236}">
                <a16:creationId xmlns:a16="http://schemas.microsoft.com/office/drawing/2014/main" id="{AA3E50F9-1A2E-B64C-6D84-7CF3C5DA7BF1}"/>
              </a:ext>
            </a:extLst>
          </p:cNvPr>
          <p:cNvSpPr/>
          <p:nvPr/>
        </p:nvSpPr>
        <p:spPr>
          <a:xfrm>
            <a:off x="-8330910" y="2218904"/>
            <a:ext cx="6190782" cy="8068751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2" name="Text 6">
            <a:extLst>
              <a:ext uri="{FF2B5EF4-FFF2-40B4-BE49-F238E27FC236}">
                <a16:creationId xmlns:a16="http://schemas.microsoft.com/office/drawing/2014/main" id="{ECC5A93B-C7AD-A8B3-D264-F84E79CEC5F0}"/>
              </a:ext>
            </a:extLst>
          </p:cNvPr>
          <p:cNvSpPr/>
          <p:nvPr/>
        </p:nvSpPr>
        <p:spPr>
          <a:xfrm>
            <a:off x="-8330910" y="7348025"/>
            <a:ext cx="6190782" cy="1613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Blog + Sidebar ]</a:t>
            </a:r>
            <a:endParaRPr lang="en-US" sz="1000" dirty="0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723F3F0-10EA-3053-72F5-93741AEE0F60}"/>
              </a:ext>
            </a:extLst>
          </p:cNvPr>
          <p:cNvSpPr/>
          <p:nvPr/>
        </p:nvSpPr>
        <p:spPr>
          <a:xfrm>
            <a:off x="11973421" y="5979733"/>
            <a:ext cx="9323250" cy="4113351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4" name="Shape 8">
            <a:extLst>
              <a:ext uri="{FF2B5EF4-FFF2-40B4-BE49-F238E27FC236}">
                <a16:creationId xmlns:a16="http://schemas.microsoft.com/office/drawing/2014/main" id="{7B5D1B98-0F14-92CC-1233-3873D7A5CC2F}"/>
              </a:ext>
            </a:extLst>
          </p:cNvPr>
          <p:cNvSpPr/>
          <p:nvPr/>
        </p:nvSpPr>
        <p:spPr>
          <a:xfrm>
            <a:off x="11973420" y="5979733"/>
            <a:ext cx="110991" cy="4113351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38D9B769-B094-2469-2DEE-0888F9EAAA99}"/>
              </a:ext>
            </a:extLst>
          </p:cNvPr>
          <p:cNvSpPr/>
          <p:nvPr/>
        </p:nvSpPr>
        <p:spPr>
          <a:xfrm>
            <a:off x="12156301" y="6052885"/>
            <a:ext cx="8657304" cy="13711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Articolo Featured</a:t>
            </a:r>
            <a:endParaRPr lang="en-US" sz="1200" dirty="0"/>
          </a:p>
        </p:txBody>
      </p:sp>
      <p:sp>
        <p:nvSpPr>
          <p:cNvPr id="36" name="Text 10">
            <a:extLst>
              <a:ext uri="{FF2B5EF4-FFF2-40B4-BE49-F238E27FC236}">
                <a16:creationId xmlns:a16="http://schemas.microsoft.com/office/drawing/2014/main" id="{B0B52EB8-A59F-DB4F-78DC-001300C80D62}"/>
              </a:ext>
            </a:extLst>
          </p:cNvPr>
          <p:cNvSpPr/>
          <p:nvPr/>
        </p:nvSpPr>
        <p:spPr>
          <a:xfrm>
            <a:off x="12156301" y="6327206"/>
            <a:ext cx="8657304" cy="1582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2 colonne · immagine grande · badge "In evidenza"</a:t>
            </a:r>
            <a:endParaRPr lang="en-US" sz="950" dirty="0"/>
          </a:p>
        </p:txBody>
      </p:sp>
      <p:sp>
        <p:nvSpPr>
          <p:cNvPr id="37" name="Shape 11">
            <a:extLst>
              <a:ext uri="{FF2B5EF4-FFF2-40B4-BE49-F238E27FC236}">
                <a16:creationId xmlns:a16="http://schemas.microsoft.com/office/drawing/2014/main" id="{7CF473A9-D4ED-732C-3023-DA6A226DC365}"/>
              </a:ext>
            </a:extLst>
          </p:cNvPr>
          <p:cNvSpPr/>
          <p:nvPr/>
        </p:nvSpPr>
        <p:spPr>
          <a:xfrm>
            <a:off x="11973421" y="6802693"/>
            <a:ext cx="9323250" cy="4113351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8" name="Shape 12">
            <a:extLst>
              <a:ext uri="{FF2B5EF4-FFF2-40B4-BE49-F238E27FC236}">
                <a16:creationId xmlns:a16="http://schemas.microsoft.com/office/drawing/2014/main" id="{232618F7-2B3A-486B-1393-FAEB9C3681E8}"/>
              </a:ext>
            </a:extLst>
          </p:cNvPr>
          <p:cNvSpPr/>
          <p:nvPr/>
        </p:nvSpPr>
        <p:spPr>
          <a:xfrm>
            <a:off x="11973420" y="6802693"/>
            <a:ext cx="110991" cy="4113351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9" name="Text 13">
            <a:extLst>
              <a:ext uri="{FF2B5EF4-FFF2-40B4-BE49-F238E27FC236}">
                <a16:creationId xmlns:a16="http://schemas.microsoft.com/office/drawing/2014/main" id="{00EA63FA-ABBA-4E8F-3A89-DD934E6CAA3F}"/>
              </a:ext>
            </a:extLst>
          </p:cNvPr>
          <p:cNvSpPr/>
          <p:nvPr/>
        </p:nvSpPr>
        <p:spPr>
          <a:xfrm>
            <a:off x="12156301" y="6875845"/>
            <a:ext cx="8657304" cy="13711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Griglia 2×3 Articoli</a:t>
            </a:r>
            <a:endParaRPr lang="en-US" sz="1200" dirty="0"/>
          </a:p>
        </p:txBody>
      </p:sp>
      <p:sp>
        <p:nvSpPr>
          <p:cNvPr id="40" name="Text 14">
            <a:extLst>
              <a:ext uri="{FF2B5EF4-FFF2-40B4-BE49-F238E27FC236}">
                <a16:creationId xmlns:a16="http://schemas.microsoft.com/office/drawing/2014/main" id="{9B06F9E6-C3CF-34E6-8771-C42333F1AE00}"/>
              </a:ext>
            </a:extLst>
          </p:cNvPr>
          <p:cNvSpPr/>
          <p:nvPr/>
        </p:nvSpPr>
        <p:spPr>
          <a:xfrm>
            <a:off x="12156301" y="7150166"/>
            <a:ext cx="8657304" cy="1582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categorie SEO: storia, itinerari, famiglie, approfondimenti...</a:t>
            </a:r>
            <a:endParaRPr lang="en-US" sz="950" dirty="0"/>
          </a:p>
        </p:txBody>
      </p:sp>
      <p:sp>
        <p:nvSpPr>
          <p:cNvPr id="41" name="Shape 15">
            <a:extLst>
              <a:ext uri="{FF2B5EF4-FFF2-40B4-BE49-F238E27FC236}">
                <a16:creationId xmlns:a16="http://schemas.microsoft.com/office/drawing/2014/main" id="{89932699-DE2C-3FE0-103D-489C25277BD6}"/>
              </a:ext>
            </a:extLst>
          </p:cNvPr>
          <p:cNvSpPr/>
          <p:nvPr/>
        </p:nvSpPr>
        <p:spPr>
          <a:xfrm>
            <a:off x="11973421" y="7625653"/>
            <a:ext cx="9323250" cy="4113351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Shape 16">
            <a:extLst>
              <a:ext uri="{FF2B5EF4-FFF2-40B4-BE49-F238E27FC236}">
                <a16:creationId xmlns:a16="http://schemas.microsoft.com/office/drawing/2014/main" id="{75D54035-70EA-6BDE-578B-777CFCC39359}"/>
              </a:ext>
            </a:extLst>
          </p:cNvPr>
          <p:cNvSpPr/>
          <p:nvPr/>
        </p:nvSpPr>
        <p:spPr>
          <a:xfrm>
            <a:off x="11973420" y="7625653"/>
            <a:ext cx="110991" cy="4113351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3" name="Text 17">
            <a:extLst>
              <a:ext uri="{FF2B5EF4-FFF2-40B4-BE49-F238E27FC236}">
                <a16:creationId xmlns:a16="http://schemas.microsoft.com/office/drawing/2014/main" id="{CD953258-23FA-5F4D-AEB8-F600E632D086}"/>
              </a:ext>
            </a:extLst>
          </p:cNvPr>
          <p:cNvSpPr/>
          <p:nvPr/>
        </p:nvSpPr>
        <p:spPr>
          <a:xfrm>
            <a:off x="12156301" y="7698805"/>
            <a:ext cx="8657304" cy="13711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Sidebar Sticky</a:t>
            </a:r>
            <a:endParaRPr lang="en-US" sz="1200" dirty="0"/>
          </a:p>
        </p:txBody>
      </p:sp>
      <p:sp>
        <p:nvSpPr>
          <p:cNvPr id="44" name="Text 18">
            <a:extLst>
              <a:ext uri="{FF2B5EF4-FFF2-40B4-BE49-F238E27FC236}">
                <a16:creationId xmlns:a16="http://schemas.microsoft.com/office/drawing/2014/main" id="{CF930D65-2DE7-7C27-83F6-71B200D61FBB}"/>
              </a:ext>
            </a:extLst>
          </p:cNvPr>
          <p:cNvSpPr/>
          <p:nvPr/>
        </p:nvSpPr>
        <p:spPr>
          <a:xfrm>
            <a:off x="12156301" y="7973126"/>
            <a:ext cx="8657304" cy="1582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Countdown · Info mostra · Tag cloud · Social CTA</a:t>
            </a:r>
            <a:endParaRPr lang="en-US" sz="950" dirty="0"/>
          </a:p>
        </p:txBody>
      </p:sp>
      <p:sp>
        <p:nvSpPr>
          <p:cNvPr id="45" name="Shape 19">
            <a:extLst>
              <a:ext uri="{FF2B5EF4-FFF2-40B4-BE49-F238E27FC236}">
                <a16:creationId xmlns:a16="http://schemas.microsoft.com/office/drawing/2014/main" id="{21B8BFD0-AC70-FF35-7FDF-3DF2FA5E8FEE}"/>
              </a:ext>
            </a:extLst>
          </p:cNvPr>
          <p:cNvSpPr/>
          <p:nvPr/>
        </p:nvSpPr>
        <p:spPr>
          <a:xfrm>
            <a:off x="11973421" y="8448613"/>
            <a:ext cx="9323250" cy="4113351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6" name="Shape 20">
            <a:extLst>
              <a:ext uri="{FF2B5EF4-FFF2-40B4-BE49-F238E27FC236}">
                <a16:creationId xmlns:a16="http://schemas.microsoft.com/office/drawing/2014/main" id="{57C68DFB-9D09-02B0-D81A-2C92CC1928EB}"/>
              </a:ext>
            </a:extLst>
          </p:cNvPr>
          <p:cNvSpPr/>
          <p:nvPr/>
        </p:nvSpPr>
        <p:spPr>
          <a:xfrm>
            <a:off x="11973420" y="8448613"/>
            <a:ext cx="110991" cy="4113351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7" name="Text 21">
            <a:extLst>
              <a:ext uri="{FF2B5EF4-FFF2-40B4-BE49-F238E27FC236}">
                <a16:creationId xmlns:a16="http://schemas.microsoft.com/office/drawing/2014/main" id="{CB389289-B296-8F9B-8CF6-DA5FC0196A38}"/>
              </a:ext>
            </a:extLst>
          </p:cNvPr>
          <p:cNvSpPr/>
          <p:nvPr/>
        </p:nvSpPr>
        <p:spPr>
          <a:xfrm>
            <a:off x="12156301" y="8521765"/>
            <a:ext cx="8657304" cy="13711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Contenuto long-tail</a:t>
            </a:r>
            <a:endParaRPr lang="en-US" sz="1200" dirty="0"/>
          </a:p>
        </p:txBody>
      </p:sp>
      <p:sp>
        <p:nvSpPr>
          <p:cNvPr id="48" name="Text 22">
            <a:extLst>
              <a:ext uri="{FF2B5EF4-FFF2-40B4-BE49-F238E27FC236}">
                <a16:creationId xmlns:a16="http://schemas.microsoft.com/office/drawing/2014/main" id="{11CA4D03-7411-A5FD-E48F-6FE758C59EE5}"/>
              </a:ext>
            </a:extLst>
          </p:cNvPr>
          <p:cNvSpPr/>
          <p:nvPr/>
        </p:nvSpPr>
        <p:spPr>
          <a:xfrm>
            <a:off x="12156301" y="8796086"/>
            <a:ext cx="8657304" cy="1582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articolo punta query specifiche ad alta intenzione d'acquisto</a:t>
            </a:r>
            <a:endParaRPr lang="en-US" sz="950" dirty="0"/>
          </a:p>
        </p:txBody>
      </p:sp>
      <p:sp>
        <p:nvSpPr>
          <p:cNvPr id="49" name="Text 23">
            <a:extLst>
              <a:ext uri="{FF2B5EF4-FFF2-40B4-BE49-F238E27FC236}">
                <a16:creationId xmlns:a16="http://schemas.microsoft.com/office/drawing/2014/main" id="{C21807E1-E616-9B52-5344-D952CEAAC4F6}"/>
              </a:ext>
            </a:extLst>
          </p:cNvPr>
          <p:cNvSpPr/>
          <p:nvPr/>
        </p:nvSpPr>
        <p:spPr>
          <a:xfrm>
            <a:off x="7610167" y="-3449187"/>
            <a:ext cx="31807358" cy="2406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Voyage — PyTech</a:t>
            </a:r>
            <a:endParaRPr lang="en-US" sz="800" dirty="0"/>
          </a:p>
        </p:txBody>
      </p:sp>
      <p:pic>
        <p:nvPicPr>
          <p:cNvPr id="50" name="Immagine 49">
            <a:extLst>
              <a:ext uri="{FF2B5EF4-FFF2-40B4-BE49-F238E27FC236}">
                <a16:creationId xmlns:a16="http://schemas.microsoft.com/office/drawing/2014/main" id="{0889A0B8-94A8-EEC7-550C-8681C3D5C5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41" r="5242"/>
          <a:stretch>
            <a:fillRect/>
          </a:stretch>
        </p:blipFill>
        <p:spPr>
          <a:xfrm>
            <a:off x="-12318265" y="2385044"/>
            <a:ext cx="10132417" cy="788432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1" name="Shape 0">
            <a:extLst>
              <a:ext uri="{FF2B5EF4-FFF2-40B4-BE49-F238E27FC236}">
                <a16:creationId xmlns:a16="http://schemas.microsoft.com/office/drawing/2014/main" id="{8C288229-EC33-1C1D-DAAB-AE1C76F7C06E}"/>
              </a:ext>
            </a:extLst>
          </p:cNvPr>
          <p:cNvSpPr/>
          <p:nvPr/>
        </p:nvSpPr>
        <p:spPr>
          <a:xfrm>
            <a:off x="-5735384" y="-9269173"/>
            <a:ext cx="11892570" cy="175267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2" name="Shape 1">
            <a:extLst>
              <a:ext uri="{FF2B5EF4-FFF2-40B4-BE49-F238E27FC236}">
                <a16:creationId xmlns:a16="http://schemas.microsoft.com/office/drawing/2014/main" id="{CEA7A786-C09C-81F9-3E77-04D6E6466170}"/>
              </a:ext>
            </a:extLst>
          </p:cNvPr>
          <p:cNvSpPr/>
          <p:nvPr/>
        </p:nvSpPr>
        <p:spPr>
          <a:xfrm>
            <a:off x="2128456" y="-9086293"/>
            <a:ext cx="1427108" cy="934755"/>
          </a:xfrm>
          <a:prstGeom prst="rect">
            <a:avLst/>
          </a:prstGeom>
          <a:solidFill>
            <a:srgbClr val="C27A48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3" name="Text 2">
            <a:extLst>
              <a:ext uri="{FF2B5EF4-FFF2-40B4-BE49-F238E27FC236}">
                <a16:creationId xmlns:a16="http://schemas.microsoft.com/office/drawing/2014/main" id="{EB403F7D-4C38-1966-CCE9-D769F35FC703}"/>
              </a:ext>
            </a:extLst>
          </p:cNvPr>
          <p:cNvSpPr/>
          <p:nvPr/>
        </p:nvSpPr>
        <p:spPr>
          <a:xfrm>
            <a:off x="2128456" y="-9086293"/>
            <a:ext cx="1427108" cy="9347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</a:t>
            </a:r>
            <a:endParaRPr lang="en-US" sz="1000" dirty="0"/>
          </a:p>
        </p:txBody>
      </p:sp>
      <p:sp>
        <p:nvSpPr>
          <p:cNvPr id="54" name="Text 3">
            <a:extLst>
              <a:ext uri="{FF2B5EF4-FFF2-40B4-BE49-F238E27FC236}">
                <a16:creationId xmlns:a16="http://schemas.microsoft.com/office/drawing/2014/main" id="{73B3E2BD-3AB9-DF7C-E718-6925FA28C312}"/>
              </a:ext>
            </a:extLst>
          </p:cNvPr>
          <p:cNvSpPr/>
          <p:nvPr/>
        </p:nvSpPr>
        <p:spPr>
          <a:xfrm>
            <a:off x="-5278184" y="-9013141"/>
            <a:ext cx="8919428" cy="87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 —  STRUCTURED DATA</a:t>
            </a:r>
            <a:endParaRPr lang="en-US" sz="850" dirty="0"/>
          </a:p>
        </p:txBody>
      </p:sp>
      <p:sp>
        <p:nvSpPr>
          <p:cNvPr id="55" name="Text 4">
            <a:extLst>
              <a:ext uri="{FF2B5EF4-FFF2-40B4-BE49-F238E27FC236}">
                <a16:creationId xmlns:a16="http://schemas.microsoft.com/office/drawing/2014/main" id="{9EDD4ABD-B4DE-4BB5-5BE4-53DDD22E7FDD}"/>
              </a:ext>
            </a:extLst>
          </p:cNvPr>
          <p:cNvSpPr/>
          <p:nvPr/>
        </p:nvSpPr>
        <p:spPr>
          <a:xfrm>
            <a:off x="-5278184" y="-8674813"/>
            <a:ext cx="7135542" cy="23368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FAQ </a:t>
            </a:r>
            <a:r>
              <a:rPr lang="en-US" sz="3200" b="1" i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Schema</a:t>
            </a:r>
            <a:endParaRPr lang="en-US" sz="3200" dirty="0"/>
          </a:p>
        </p:txBody>
      </p:sp>
      <p:sp>
        <p:nvSpPr>
          <p:cNvPr id="56" name="Shape 5">
            <a:extLst>
              <a:ext uri="{FF2B5EF4-FFF2-40B4-BE49-F238E27FC236}">
                <a16:creationId xmlns:a16="http://schemas.microsoft.com/office/drawing/2014/main" id="{5A86863E-A1F4-39DF-7904-DEDB19ADC12E}"/>
              </a:ext>
            </a:extLst>
          </p:cNvPr>
          <p:cNvSpPr/>
          <p:nvPr/>
        </p:nvSpPr>
        <p:spPr>
          <a:xfrm>
            <a:off x="-5278185" y="-7806132"/>
            <a:ext cx="10703313" cy="3067164"/>
          </a:xfrm>
          <a:prstGeom prst="rect">
            <a:avLst/>
          </a:prstGeom>
          <a:solidFill>
            <a:srgbClr val="3A2418"/>
          </a:solidFill>
          <a:ln w="19050">
            <a:solidFill>
              <a:srgbClr val="C27A4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7" name="Shape 6">
            <a:extLst>
              <a:ext uri="{FF2B5EF4-FFF2-40B4-BE49-F238E27FC236}">
                <a16:creationId xmlns:a16="http://schemas.microsoft.com/office/drawing/2014/main" id="{6DAD15DC-0CCC-7B6F-636A-1DF9A7739F87}"/>
              </a:ext>
            </a:extLst>
          </p:cNvPr>
          <p:cNvSpPr/>
          <p:nvPr/>
        </p:nvSpPr>
        <p:spPr>
          <a:xfrm>
            <a:off x="-5278184" y="-7806132"/>
            <a:ext cx="83248" cy="3067164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8" name="Text 7">
            <a:extLst>
              <a:ext uri="{FF2B5EF4-FFF2-40B4-BE49-F238E27FC236}">
                <a16:creationId xmlns:a16="http://schemas.microsoft.com/office/drawing/2014/main" id="{2F5D4D63-85EB-C77B-3253-525AB1ACA03E}"/>
              </a:ext>
            </a:extLst>
          </p:cNvPr>
          <p:cNvSpPr/>
          <p:nvPr/>
        </p:nvSpPr>
        <p:spPr>
          <a:xfrm>
            <a:off x="-5077016" y="-7696404"/>
            <a:ext cx="10227610" cy="1022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0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Questa sezione è strutturata con markup </a:t>
            </a:r>
            <a:endParaRPr lang="en-US" sz="1350" dirty="0"/>
          </a:p>
        </p:txBody>
      </p:sp>
      <p:sp>
        <p:nvSpPr>
          <p:cNvPr id="59" name="Shape 8">
            <a:extLst>
              <a:ext uri="{FF2B5EF4-FFF2-40B4-BE49-F238E27FC236}">
                <a16:creationId xmlns:a16="http://schemas.microsoft.com/office/drawing/2014/main" id="{7172C6D1-11F3-2F17-83D5-D58D7A6EE691}"/>
              </a:ext>
            </a:extLst>
          </p:cNvPr>
          <p:cNvSpPr/>
          <p:nvPr/>
        </p:nvSpPr>
        <p:spPr>
          <a:xfrm>
            <a:off x="-5077017" y="-7348933"/>
            <a:ext cx="2672521" cy="1493366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0" name="Text 9">
            <a:extLst>
              <a:ext uri="{FF2B5EF4-FFF2-40B4-BE49-F238E27FC236}">
                <a16:creationId xmlns:a16="http://schemas.microsoft.com/office/drawing/2014/main" id="{29951007-4EDF-99FF-5443-E79F9CCE3B52}"/>
              </a:ext>
            </a:extLst>
          </p:cNvPr>
          <p:cNvSpPr/>
          <p:nvPr/>
        </p:nvSpPr>
        <p:spPr>
          <a:xfrm>
            <a:off x="-5077017" y="-7348933"/>
            <a:ext cx="2672521" cy="14933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27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Schema</a:t>
            </a:r>
            <a:endParaRPr lang="en-US" sz="1200" dirty="0"/>
          </a:p>
        </p:txBody>
      </p:sp>
      <p:sp>
        <p:nvSpPr>
          <p:cNvPr id="61" name="Text 10">
            <a:extLst>
              <a:ext uri="{FF2B5EF4-FFF2-40B4-BE49-F238E27FC236}">
                <a16:creationId xmlns:a16="http://schemas.microsoft.com/office/drawing/2014/main" id="{872A2940-B49E-E772-7BF4-28357655AC0B}"/>
              </a:ext>
            </a:extLst>
          </p:cNvPr>
          <p:cNvSpPr/>
          <p:nvPr/>
        </p:nvSpPr>
        <p:spPr>
          <a:xfrm>
            <a:off x="-3522537" y="-7348933"/>
            <a:ext cx="8324799" cy="9347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0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massimizzare la visibilità nei risultati di ricerca Google.</a:t>
            </a:r>
            <a:endParaRPr lang="en-US" sz="1350" dirty="0"/>
          </a:p>
        </p:txBody>
      </p:sp>
      <p:sp>
        <p:nvSpPr>
          <p:cNvPr id="62" name="Shape 11">
            <a:extLst>
              <a:ext uri="{FF2B5EF4-FFF2-40B4-BE49-F238E27FC236}">
                <a16:creationId xmlns:a16="http://schemas.microsoft.com/office/drawing/2014/main" id="{29E046D4-C6DF-F438-6435-E173BCB62433}"/>
              </a:ext>
            </a:extLst>
          </p:cNvPr>
          <p:cNvSpPr/>
          <p:nvPr/>
        </p:nvSpPr>
        <p:spPr>
          <a:xfrm>
            <a:off x="-9173571" y="11883445"/>
            <a:ext cx="3549298" cy="3359949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3" name="Text 12">
            <a:extLst>
              <a:ext uri="{FF2B5EF4-FFF2-40B4-BE49-F238E27FC236}">
                <a16:creationId xmlns:a16="http://schemas.microsoft.com/office/drawing/2014/main" id="{3109373B-3D84-35A2-1CDF-ED82FA28D2EC}"/>
              </a:ext>
            </a:extLst>
          </p:cNvPr>
          <p:cNvSpPr/>
          <p:nvPr/>
        </p:nvSpPr>
        <p:spPr>
          <a:xfrm>
            <a:off x="-9173571" y="11956597"/>
            <a:ext cx="3549298" cy="657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🔖</a:t>
            </a:r>
            <a:endParaRPr lang="en-US" sz="2200" dirty="0"/>
          </a:p>
        </p:txBody>
      </p:sp>
      <p:sp>
        <p:nvSpPr>
          <p:cNvPr id="64" name="Text 13">
            <a:extLst>
              <a:ext uri="{FF2B5EF4-FFF2-40B4-BE49-F238E27FC236}">
                <a16:creationId xmlns:a16="http://schemas.microsoft.com/office/drawing/2014/main" id="{9E8649D0-049B-419D-7230-FB4FC58B03A0}"/>
              </a:ext>
            </a:extLst>
          </p:cNvPr>
          <p:cNvSpPr/>
          <p:nvPr/>
        </p:nvSpPr>
        <p:spPr>
          <a:xfrm>
            <a:off x="-9036411" y="12432086"/>
            <a:ext cx="3175688" cy="438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FAQPage Schema</a:t>
            </a:r>
            <a:endParaRPr lang="en-US" sz="1200" dirty="0"/>
          </a:p>
        </p:txBody>
      </p:sp>
      <p:sp>
        <p:nvSpPr>
          <p:cNvPr id="65" name="Text 14">
            <a:extLst>
              <a:ext uri="{FF2B5EF4-FFF2-40B4-BE49-F238E27FC236}">
                <a16:creationId xmlns:a16="http://schemas.microsoft.com/office/drawing/2014/main" id="{07027268-8D72-962A-72E9-BF3C0D9D1172}"/>
              </a:ext>
            </a:extLst>
          </p:cNvPr>
          <p:cNvSpPr/>
          <p:nvPr/>
        </p:nvSpPr>
        <p:spPr>
          <a:xfrm>
            <a:off x="-9036411" y="12779557"/>
            <a:ext cx="3175688" cy="1753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Markup JSON-LD nel &lt;head&gt;. Google lo legge e risponde direttamente nella SERP.</a:t>
            </a:r>
            <a:endParaRPr lang="en-US" sz="900" dirty="0"/>
          </a:p>
        </p:txBody>
      </p:sp>
      <p:sp>
        <p:nvSpPr>
          <p:cNvPr id="66" name="Shape 15">
            <a:extLst>
              <a:ext uri="{FF2B5EF4-FFF2-40B4-BE49-F238E27FC236}">
                <a16:creationId xmlns:a16="http://schemas.microsoft.com/office/drawing/2014/main" id="{CC41FAF9-0CD7-E50C-EC3A-BC4C460F5315}"/>
              </a:ext>
            </a:extLst>
          </p:cNvPr>
          <p:cNvSpPr/>
          <p:nvPr/>
        </p:nvSpPr>
        <p:spPr>
          <a:xfrm>
            <a:off x="-432816" y="14957354"/>
            <a:ext cx="3861816" cy="3425174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7" name="Text 16">
            <a:extLst>
              <a:ext uri="{FF2B5EF4-FFF2-40B4-BE49-F238E27FC236}">
                <a16:creationId xmlns:a16="http://schemas.microsoft.com/office/drawing/2014/main" id="{5542A428-6DD4-7DC6-4C19-E860919C1384}"/>
              </a:ext>
            </a:extLst>
          </p:cNvPr>
          <p:cNvSpPr/>
          <p:nvPr/>
        </p:nvSpPr>
        <p:spPr>
          <a:xfrm>
            <a:off x="-432816" y="15030505"/>
            <a:ext cx="3861816" cy="67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68" name="Text 17">
            <a:extLst>
              <a:ext uri="{FF2B5EF4-FFF2-40B4-BE49-F238E27FC236}">
                <a16:creationId xmlns:a16="http://schemas.microsoft.com/office/drawing/2014/main" id="{C23A05A2-AE9E-427E-DFB7-03AAB2A95524}"/>
              </a:ext>
            </a:extLst>
          </p:cNvPr>
          <p:cNvSpPr/>
          <p:nvPr/>
        </p:nvSpPr>
        <p:spPr>
          <a:xfrm>
            <a:off x="-295657" y="15505994"/>
            <a:ext cx="3455309" cy="446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Rich Snippet</a:t>
            </a:r>
            <a:endParaRPr lang="en-US" sz="1200" dirty="0"/>
          </a:p>
        </p:txBody>
      </p:sp>
      <p:sp>
        <p:nvSpPr>
          <p:cNvPr id="69" name="Text 18">
            <a:extLst>
              <a:ext uri="{FF2B5EF4-FFF2-40B4-BE49-F238E27FC236}">
                <a16:creationId xmlns:a16="http://schemas.microsoft.com/office/drawing/2014/main" id="{427D9B6C-D20A-4548-1A57-3FC907248DA2}"/>
              </a:ext>
            </a:extLst>
          </p:cNvPr>
          <p:cNvSpPr/>
          <p:nvPr/>
        </p:nvSpPr>
        <p:spPr>
          <a:xfrm>
            <a:off x="-295657" y="15853465"/>
            <a:ext cx="3455309" cy="178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domande appaiono espanse nei risultati, aumentando il CTR senza ads.</a:t>
            </a:r>
            <a:endParaRPr lang="en-US" sz="900" dirty="0"/>
          </a:p>
        </p:txBody>
      </p:sp>
      <p:sp>
        <p:nvSpPr>
          <p:cNvPr id="70" name="Shape 19">
            <a:extLst>
              <a:ext uri="{FF2B5EF4-FFF2-40B4-BE49-F238E27FC236}">
                <a16:creationId xmlns:a16="http://schemas.microsoft.com/office/drawing/2014/main" id="{2565F78F-B77C-9498-336F-00A5005916E9}"/>
              </a:ext>
            </a:extLst>
          </p:cNvPr>
          <p:cNvSpPr/>
          <p:nvPr/>
        </p:nvSpPr>
        <p:spPr>
          <a:xfrm>
            <a:off x="10262616" y="12488812"/>
            <a:ext cx="4387686" cy="3993712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1" name="Text 20">
            <a:extLst>
              <a:ext uri="{FF2B5EF4-FFF2-40B4-BE49-F238E27FC236}">
                <a16:creationId xmlns:a16="http://schemas.microsoft.com/office/drawing/2014/main" id="{C6AEAFAA-8278-26E3-C246-3DE23599E31A}"/>
              </a:ext>
            </a:extLst>
          </p:cNvPr>
          <p:cNvSpPr/>
          <p:nvPr/>
        </p:nvSpPr>
        <p:spPr>
          <a:xfrm>
            <a:off x="10262616" y="12561963"/>
            <a:ext cx="4387686" cy="781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📐</a:t>
            </a:r>
            <a:endParaRPr lang="en-US" sz="2200" dirty="0"/>
          </a:p>
        </p:txBody>
      </p:sp>
      <p:sp>
        <p:nvSpPr>
          <p:cNvPr id="72" name="Text 21">
            <a:extLst>
              <a:ext uri="{FF2B5EF4-FFF2-40B4-BE49-F238E27FC236}">
                <a16:creationId xmlns:a16="http://schemas.microsoft.com/office/drawing/2014/main" id="{56D2D94E-45EB-AAD5-DD2F-A82D0AE34025}"/>
              </a:ext>
            </a:extLst>
          </p:cNvPr>
          <p:cNvSpPr/>
          <p:nvPr/>
        </p:nvSpPr>
        <p:spPr>
          <a:xfrm>
            <a:off x="10399776" y="13037451"/>
            <a:ext cx="3925824" cy="520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itemprop HTML</a:t>
            </a:r>
            <a:endParaRPr lang="en-US" sz="1200" dirty="0"/>
          </a:p>
        </p:txBody>
      </p:sp>
      <p:sp>
        <p:nvSpPr>
          <p:cNvPr id="73" name="Text 22">
            <a:extLst>
              <a:ext uri="{FF2B5EF4-FFF2-40B4-BE49-F238E27FC236}">
                <a16:creationId xmlns:a16="http://schemas.microsoft.com/office/drawing/2014/main" id="{4512B8B8-1F92-32FA-7F63-8F5E4B6649B3}"/>
              </a:ext>
            </a:extLst>
          </p:cNvPr>
          <p:cNvSpPr/>
          <p:nvPr/>
        </p:nvSpPr>
        <p:spPr>
          <a:xfrm>
            <a:off x="10399776" y="13384924"/>
            <a:ext cx="3925824" cy="20836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Doppio livello: JSON-LD + Microdata per compatibilità con tutti i crawler.</a:t>
            </a:r>
            <a:endParaRPr lang="en-US" sz="900" dirty="0"/>
          </a:p>
        </p:txBody>
      </p:sp>
      <p:sp>
        <p:nvSpPr>
          <p:cNvPr id="74" name="Text 23">
            <a:extLst>
              <a:ext uri="{FF2B5EF4-FFF2-40B4-BE49-F238E27FC236}">
                <a16:creationId xmlns:a16="http://schemas.microsoft.com/office/drawing/2014/main" id="{B478232F-5672-444B-A673-6BF1151197C1}"/>
              </a:ext>
            </a:extLst>
          </p:cNvPr>
          <p:cNvSpPr/>
          <p:nvPr/>
        </p:nvSpPr>
        <p:spPr>
          <a:xfrm>
            <a:off x="-1008888" y="11852557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Voyage — PyTech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9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7863840" y="182880"/>
            <a:ext cx="1097280" cy="292608"/>
          </a:xfrm>
          <a:prstGeom prst="rect">
            <a:avLst/>
          </a:prstGeom>
          <a:solidFill>
            <a:srgbClr val="C27A48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7863840" y="1828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560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 —  STRUCTURED DATA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FAQ </a:t>
            </a:r>
            <a:r>
              <a:rPr lang="en-US" sz="3200" b="1" i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Schema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960120"/>
          </a:xfrm>
          <a:prstGeom prst="rect">
            <a:avLst/>
          </a:prstGeom>
          <a:solidFill>
            <a:srgbClr val="3A2418"/>
          </a:solidFill>
          <a:ln w="19050">
            <a:solidFill>
              <a:srgbClr val="C27A4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64008" cy="960120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658368" y="15727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0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Questa sezione è strutturata con markup 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8368" y="1920240"/>
            <a:ext cx="1508760" cy="292608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658368" y="192024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27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Schema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12848" y="19202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0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massimizzare la visibilità nei risultati di ricerca Google.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2606040" cy="2103120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457200" y="272491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🔖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94360" y="3200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FAQPage Schema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" y="3547872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Markup JSON-LD nel &lt;head&gt;. Google lo legge e risponde direttamente nella SERP.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73552" y="2651760"/>
            <a:ext cx="2606040" cy="2103120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3273552" y="272491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3410712" y="3200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Rich Snippet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10712" y="3547872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domande appaiono espanse nei risultati, aumentando il CTR senza ads.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089904" y="2651760"/>
            <a:ext cx="2606040" cy="2103120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6089904" y="272491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📐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227064" y="3200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itemprop HTML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27064" y="3547872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Doppio livello: JSON-LD + Microdata per compatibilità con tutti i crawler.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Voyage — PyTech</a:t>
            </a:r>
            <a:endParaRPr lang="en-US" sz="800" dirty="0"/>
          </a:p>
        </p:txBody>
      </p:sp>
      <p:sp>
        <p:nvSpPr>
          <p:cNvPr id="50" name="Shape 0">
            <a:extLst>
              <a:ext uri="{FF2B5EF4-FFF2-40B4-BE49-F238E27FC236}">
                <a16:creationId xmlns:a16="http://schemas.microsoft.com/office/drawing/2014/main" id="{186244CA-741B-8344-91A4-4790368BB3B7}"/>
              </a:ext>
            </a:extLst>
          </p:cNvPr>
          <p:cNvSpPr/>
          <p:nvPr/>
        </p:nvSpPr>
        <p:spPr>
          <a:xfrm>
            <a:off x="-155449" y="-7785034"/>
            <a:ext cx="14354387" cy="314580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1" name="Shape 1">
            <a:extLst>
              <a:ext uri="{FF2B5EF4-FFF2-40B4-BE49-F238E27FC236}">
                <a16:creationId xmlns:a16="http://schemas.microsoft.com/office/drawing/2014/main" id="{7CFCA0EC-158D-51AD-E3E8-3157483659FC}"/>
              </a:ext>
            </a:extLst>
          </p:cNvPr>
          <p:cNvSpPr/>
          <p:nvPr/>
        </p:nvSpPr>
        <p:spPr>
          <a:xfrm>
            <a:off x="7708392" y="-7602155"/>
            <a:ext cx="1722526" cy="1677761"/>
          </a:xfrm>
          <a:prstGeom prst="rect">
            <a:avLst/>
          </a:prstGeom>
          <a:solidFill>
            <a:srgbClr val="C27A48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2" name="Text 2">
            <a:extLst>
              <a:ext uri="{FF2B5EF4-FFF2-40B4-BE49-F238E27FC236}">
                <a16:creationId xmlns:a16="http://schemas.microsoft.com/office/drawing/2014/main" id="{A5C72AC0-8375-D187-3723-FCAB6E36BE62}"/>
              </a:ext>
            </a:extLst>
          </p:cNvPr>
          <p:cNvSpPr/>
          <p:nvPr/>
        </p:nvSpPr>
        <p:spPr>
          <a:xfrm>
            <a:off x="7708392" y="-7602155"/>
            <a:ext cx="1722526" cy="1677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Lollo</a:t>
            </a:r>
            <a:endParaRPr lang="en-US" sz="1000" dirty="0"/>
          </a:p>
        </p:txBody>
      </p:sp>
      <p:sp>
        <p:nvSpPr>
          <p:cNvPr id="53" name="Text 3">
            <a:extLst>
              <a:ext uri="{FF2B5EF4-FFF2-40B4-BE49-F238E27FC236}">
                <a16:creationId xmlns:a16="http://schemas.microsoft.com/office/drawing/2014/main" id="{757C6802-910A-0BAF-737D-E89AF87E3B9B}"/>
              </a:ext>
            </a:extLst>
          </p:cNvPr>
          <p:cNvSpPr/>
          <p:nvPr/>
        </p:nvSpPr>
        <p:spPr>
          <a:xfrm>
            <a:off x="301752" y="-7529003"/>
            <a:ext cx="10765790" cy="1572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 —  STRATEGIA DI CONTENUTO</a:t>
            </a:r>
            <a:endParaRPr lang="en-US" sz="850" dirty="0"/>
          </a:p>
        </p:txBody>
      </p:sp>
      <p:sp>
        <p:nvSpPr>
          <p:cNvPr id="54" name="Text 4">
            <a:extLst>
              <a:ext uri="{FF2B5EF4-FFF2-40B4-BE49-F238E27FC236}">
                <a16:creationId xmlns:a16="http://schemas.microsoft.com/office/drawing/2014/main" id="{521CA51B-FF22-2E59-BCEA-FBC2BF2F36CC}"/>
              </a:ext>
            </a:extLst>
          </p:cNvPr>
          <p:cNvSpPr/>
          <p:nvPr/>
        </p:nvSpPr>
        <p:spPr>
          <a:xfrm>
            <a:off x="301752" y="-7236394"/>
            <a:ext cx="12918948" cy="5243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Come il blog porta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 err="1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persone</a:t>
            </a:r>
            <a:r>
              <a:rPr lang="en-US" sz="28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2800" b="1" i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 sito</a:t>
            </a:r>
            <a:endParaRPr lang="en-US" sz="2800" dirty="0"/>
          </a:p>
        </p:txBody>
      </p:sp>
      <p:sp>
        <p:nvSpPr>
          <p:cNvPr id="55" name="Shape 5">
            <a:extLst>
              <a:ext uri="{FF2B5EF4-FFF2-40B4-BE49-F238E27FC236}">
                <a16:creationId xmlns:a16="http://schemas.microsoft.com/office/drawing/2014/main" id="{AC55B84F-5A63-E1C9-0A70-BFA24F8CD1BB}"/>
              </a:ext>
            </a:extLst>
          </p:cNvPr>
          <p:cNvSpPr/>
          <p:nvPr/>
        </p:nvSpPr>
        <p:spPr>
          <a:xfrm>
            <a:off x="22522311" y="4892040"/>
            <a:ext cx="13271518" cy="14012935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6" name="Text 6">
            <a:extLst>
              <a:ext uri="{FF2B5EF4-FFF2-40B4-BE49-F238E27FC236}">
                <a16:creationId xmlns:a16="http://schemas.microsoft.com/office/drawing/2014/main" id="{A4E05C3B-C460-2643-9EC0-413D5E14FA7B}"/>
              </a:ext>
            </a:extLst>
          </p:cNvPr>
          <p:cNvSpPr/>
          <p:nvPr/>
        </p:nvSpPr>
        <p:spPr>
          <a:xfrm>
            <a:off x="-13961135" y="3931920"/>
            <a:ext cx="11874516" cy="2802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🔍  Long-tail SEO</a:t>
            </a:r>
            <a:endParaRPr lang="en-US" sz="1100" dirty="0"/>
          </a:p>
        </p:txBody>
      </p:sp>
      <p:sp>
        <p:nvSpPr>
          <p:cNvPr id="57" name="Text 7">
            <a:extLst>
              <a:ext uri="{FF2B5EF4-FFF2-40B4-BE49-F238E27FC236}">
                <a16:creationId xmlns:a16="http://schemas.microsoft.com/office/drawing/2014/main" id="{217CE42E-4DA8-C83F-0211-609590DCCE51}"/>
              </a:ext>
            </a:extLst>
          </p:cNvPr>
          <p:cNvSpPr/>
          <p:nvPr/>
        </p:nvSpPr>
        <p:spPr>
          <a:xfrm>
            <a:off x="-13961135" y="4261104"/>
            <a:ext cx="11874516" cy="8407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Articoli mirati su query specifiche ad alta intenzione: 'storia bacio doisneau messo in scena', 'mostra Doisneau Pordenone 2026'.</a:t>
            </a:r>
            <a:endParaRPr lang="en-US" sz="850" dirty="0"/>
          </a:p>
        </p:txBody>
      </p:sp>
      <p:sp>
        <p:nvSpPr>
          <p:cNvPr id="58" name="Shape 8">
            <a:extLst>
              <a:ext uri="{FF2B5EF4-FFF2-40B4-BE49-F238E27FC236}">
                <a16:creationId xmlns:a16="http://schemas.microsoft.com/office/drawing/2014/main" id="{1901D2D0-685B-666A-78B2-14D4279790BC}"/>
              </a:ext>
            </a:extLst>
          </p:cNvPr>
          <p:cNvSpPr/>
          <p:nvPr/>
        </p:nvSpPr>
        <p:spPr>
          <a:xfrm>
            <a:off x="-12223628" y="8182160"/>
            <a:ext cx="13271518" cy="14012935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9" name="Text 9">
            <a:extLst>
              <a:ext uri="{FF2B5EF4-FFF2-40B4-BE49-F238E27FC236}">
                <a16:creationId xmlns:a16="http://schemas.microsoft.com/office/drawing/2014/main" id="{D067C731-3410-F324-17DD-91E11651944D}"/>
              </a:ext>
            </a:extLst>
          </p:cNvPr>
          <p:cNvSpPr/>
          <p:nvPr/>
        </p:nvSpPr>
        <p:spPr>
          <a:xfrm>
            <a:off x="355731" y="5989320"/>
            <a:ext cx="11874516" cy="2802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📱  Leva Social</a:t>
            </a:r>
            <a:endParaRPr lang="en-US" sz="1100" dirty="0"/>
          </a:p>
        </p:txBody>
      </p:sp>
      <p:sp>
        <p:nvSpPr>
          <p:cNvPr id="60" name="Text 10">
            <a:extLst>
              <a:ext uri="{FF2B5EF4-FFF2-40B4-BE49-F238E27FC236}">
                <a16:creationId xmlns:a16="http://schemas.microsoft.com/office/drawing/2014/main" id="{6484C40D-E6F6-11F8-C46D-B1C602AD54EA}"/>
              </a:ext>
            </a:extLst>
          </p:cNvPr>
          <p:cNvSpPr/>
          <p:nvPr/>
        </p:nvSpPr>
        <p:spPr>
          <a:xfrm>
            <a:off x="355731" y="6318504"/>
            <a:ext cx="11874516" cy="8407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 Reels Instagram/TikTok + challenge 'Ricrea il Bacio a Pordenone' — user generated content.</a:t>
            </a:r>
            <a:endParaRPr lang="en-US" sz="850" dirty="0"/>
          </a:p>
        </p:txBody>
      </p:sp>
      <p:sp>
        <p:nvSpPr>
          <p:cNvPr id="61" name="Shape 11">
            <a:extLst>
              <a:ext uri="{FF2B5EF4-FFF2-40B4-BE49-F238E27FC236}">
                <a16:creationId xmlns:a16="http://schemas.microsoft.com/office/drawing/2014/main" id="{FCE0DEB6-9808-598F-6BE9-8497BC7E53DB}"/>
              </a:ext>
            </a:extLst>
          </p:cNvPr>
          <p:cNvSpPr/>
          <p:nvPr/>
        </p:nvSpPr>
        <p:spPr>
          <a:xfrm>
            <a:off x="17068113" y="5662397"/>
            <a:ext cx="13271518" cy="14012935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2" name="Text 12">
            <a:extLst>
              <a:ext uri="{FF2B5EF4-FFF2-40B4-BE49-F238E27FC236}">
                <a16:creationId xmlns:a16="http://schemas.microsoft.com/office/drawing/2014/main" id="{EE50CECB-2247-F5EE-C10A-BE96453B0BAD}"/>
              </a:ext>
            </a:extLst>
          </p:cNvPr>
          <p:cNvSpPr/>
          <p:nvPr/>
        </p:nvSpPr>
        <p:spPr>
          <a:xfrm>
            <a:off x="3190371" y="5989320"/>
            <a:ext cx="11874516" cy="2802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⏰  Leva Temporale</a:t>
            </a:r>
            <a:endParaRPr lang="en-US" sz="1100" dirty="0"/>
          </a:p>
        </p:txBody>
      </p:sp>
      <p:sp>
        <p:nvSpPr>
          <p:cNvPr id="63" name="Text 13">
            <a:extLst>
              <a:ext uri="{FF2B5EF4-FFF2-40B4-BE49-F238E27FC236}">
                <a16:creationId xmlns:a16="http://schemas.microsoft.com/office/drawing/2014/main" id="{9897F7FD-15DE-7B64-364C-6F06A553E931}"/>
              </a:ext>
            </a:extLst>
          </p:cNvPr>
          <p:cNvSpPr/>
          <p:nvPr/>
        </p:nvSpPr>
        <p:spPr>
          <a:xfrm>
            <a:off x="3190371" y="6318504"/>
            <a:ext cx="11874516" cy="8407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Countdown 6 aprile 2026. Urgenza reale: dopo quella data il Bacio torna negli archivi privati.</a:t>
            </a:r>
            <a:endParaRPr lang="en-US" sz="850" dirty="0"/>
          </a:p>
        </p:txBody>
      </p:sp>
      <p:sp>
        <p:nvSpPr>
          <p:cNvPr id="64" name="Shape 14">
            <a:extLst>
              <a:ext uri="{FF2B5EF4-FFF2-40B4-BE49-F238E27FC236}">
                <a16:creationId xmlns:a16="http://schemas.microsoft.com/office/drawing/2014/main" id="{258B9F09-C621-2304-AFED-5F3189C7F843}"/>
              </a:ext>
            </a:extLst>
          </p:cNvPr>
          <p:cNvSpPr/>
          <p:nvPr/>
        </p:nvSpPr>
        <p:spPr>
          <a:xfrm>
            <a:off x="-11066290" y="8144060"/>
            <a:ext cx="13271518" cy="14012935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5" name="Text 15">
            <a:extLst>
              <a:ext uri="{FF2B5EF4-FFF2-40B4-BE49-F238E27FC236}">
                <a16:creationId xmlns:a16="http://schemas.microsoft.com/office/drawing/2014/main" id="{9657CD85-ED6D-162D-D6A6-573E03E4EC8E}"/>
              </a:ext>
            </a:extLst>
          </p:cNvPr>
          <p:cNvSpPr/>
          <p:nvPr/>
        </p:nvSpPr>
        <p:spPr>
          <a:xfrm>
            <a:off x="-13961135" y="5486400"/>
            <a:ext cx="11874516" cy="2802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💰  Leva Economica</a:t>
            </a:r>
            <a:endParaRPr lang="en-US" sz="1100" dirty="0"/>
          </a:p>
        </p:txBody>
      </p:sp>
      <p:sp>
        <p:nvSpPr>
          <p:cNvPr id="66" name="Text 16">
            <a:extLst>
              <a:ext uri="{FF2B5EF4-FFF2-40B4-BE49-F238E27FC236}">
                <a16:creationId xmlns:a16="http://schemas.microsoft.com/office/drawing/2014/main" id="{59237E32-8262-495A-5EAF-C66E3098E5B4}"/>
              </a:ext>
            </a:extLst>
          </p:cNvPr>
          <p:cNvSpPr/>
          <p:nvPr/>
        </p:nvSpPr>
        <p:spPr>
          <a:xfrm>
            <a:off x="-13961135" y="5815584"/>
            <a:ext cx="11874516" cy="8407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Combo 'Sul Leggere': Doisneau + Arthur + Furuya. 3×1 culturale che giustifica il viaggio da fuori.</a:t>
            </a:r>
            <a:endParaRPr lang="en-US" sz="850" dirty="0"/>
          </a:p>
        </p:txBody>
      </p:sp>
      <p:sp>
        <p:nvSpPr>
          <p:cNvPr id="67" name="Shape 17">
            <a:extLst>
              <a:ext uri="{FF2B5EF4-FFF2-40B4-BE49-F238E27FC236}">
                <a16:creationId xmlns:a16="http://schemas.microsoft.com/office/drawing/2014/main" id="{62A54583-55E9-8A49-7929-2ACBAE738CA5}"/>
              </a:ext>
            </a:extLst>
          </p:cNvPr>
          <p:cNvSpPr/>
          <p:nvPr/>
        </p:nvSpPr>
        <p:spPr>
          <a:xfrm>
            <a:off x="15364756" y="7829525"/>
            <a:ext cx="13271518" cy="14012935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8" name="Text 18">
            <a:extLst>
              <a:ext uri="{FF2B5EF4-FFF2-40B4-BE49-F238E27FC236}">
                <a16:creationId xmlns:a16="http://schemas.microsoft.com/office/drawing/2014/main" id="{7B2CC546-3217-20FC-36E7-C17E333D3648}"/>
              </a:ext>
            </a:extLst>
          </p:cNvPr>
          <p:cNvSpPr/>
          <p:nvPr/>
        </p:nvSpPr>
        <p:spPr>
          <a:xfrm>
            <a:off x="355731" y="7543800"/>
            <a:ext cx="11874516" cy="2802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🚂  Leva Logistica</a:t>
            </a:r>
            <a:endParaRPr lang="en-US" sz="1100" dirty="0"/>
          </a:p>
        </p:txBody>
      </p:sp>
      <p:sp>
        <p:nvSpPr>
          <p:cNvPr id="69" name="Text 19">
            <a:extLst>
              <a:ext uri="{FF2B5EF4-FFF2-40B4-BE49-F238E27FC236}">
                <a16:creationId xmlns:a16="http://schemas.microsoft.com/office/drawing/2014/main" id="{3FC44006-CA4C-C0B5-50AA-9AF4397C3886}"/>
              </a:ext>
            </a:extLst>
          </p:cNvPr>
          <p:cNvSpPr/>
          <p:nvPr/>
        </p:nvSpPr>
        <p:spPr>
          <a:xfrm>
            <a:off x="355731" y="7872984"/>
            <a:ext cx="11874516" cy="8407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 a piedi dalla stazione. Treni diretti da Venezia (&lt;1h). Sezione 'Non sei di Pordenone?' dedicata.</a:t>
            </a:r>
            <a:endParaRPr lang="en-US" sz="850" dirty="0"/>
          </a:p>
        </p:txBody>
      </p:sp>
      <p:sp>
        <p:nvSpPr>
          <p:cNvPr id="70" name="Shape 20">
            <a:extLst>
              <a:ext uri="{FF2B5EF4-FFF2-40B4-BE49-F238E27FC236}">
                <a16:creationId xmlns:a16="http://schemas.microsoft.com/office/drawing/2014/main" id="{4322ECDC-155C-88BB-1D4D-CEF3A1179533}"/>
              </a:ext>
            </a:extLst>
          </p:cNvPr>
          <p:cNvSpPr/>
          <p:nvPr/>
        </p:nvSpPr>
        <p:spPr>
          <a:xfrm>
            <a:off x="22522311" y="7390613"/>
            <a:ext cx="13271518" cy="14012935"/>
          </a:xfrm>
          <a:prstGeom prst="rect">
            <a:avLst/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1" name="Text 21">
            <a:extLst>
              <a:ext uri="{FF2B5EF4-FFF2-40B4-BE49-F238E27FC236}">
                <a16:creationId xmlns:a16="http://schemas.microsoft.com/office/drawing/2014/main" id="{61C6D2B4-1326-5B86-DF5F-F85D4784BF69}"/>
              </a:ext>
            </a:extLst>
          </p:cNvPr>
          <p:cNvSpPr/>
          <p:nvPr/>
        </p:nvSpPr>
        <p:spPr>
          <a:xfrm>
            <a:off x="3190371" y="7543800"/>
            <a:ext cx="11874516" cy="2802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🤝  Sunday Photowalk</a:t>
            </a:r>
            <a:endParaRPr lang="en-US" sz="1100" dirty="0"/>
          </a:p>
        </p:txBody>
      </p:sp>
      <p:sp>
        <p:nvSpPr>
          <p:cNvPr id="72" name="Text 22">
            <a:extLst>
              <a:ext uri="{FF2B5EF4-FFF2-40B4-BE49-F238E27FC236}">
                <a16:creationId xmlns:a16="http://schemas.microsoft.com/office/drawing/2014/main" id="{498511FD-33BB-C511-DE49-92DFEC7E0769}"/>
              </a:ext>
            </a:extLst>
          </p:cNvPr>
          <p:cNvSpPr/>
          <p:nvPr/>
        </p:nvSpPr>
        <p:spPr>
          <a:xfrm>
            <a:off x="3190371" y="7872984"/>
            <a:ext cx="11874516" cy="8407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Piccoli gruppi guidati da un fotografo locale dopo la mostra. Networking + UGC social.</a:t>
            </a:r>
            <a:endParaRPr lang="en-US" sz="850" dirty="0"/>
          </a:p>
        </p:txBody>
      </p:sp>
      <p:sp>
        <p:nvSpPr>
          <p:cNvPr id="73" name="Text 23">
            <a:extLst>
              <a:ext uri="{FF2B5EF4-FFF2-40B4-BE49-F238E27FC236}">
                <a16:creationId xmlns:a16="http://schemas.microsoft.com/office/drawing/2014/main" id="{347421F5-F774-F457-1F78-163672836809}"/>
              </a:ext>
            </a:extLst>
          </p:cNvPr>
          <p:cNvSpPr/>
          <p:nvPr/>
        </p:nvSpPr>
        <p:spPr>
          <a:xfrm>
            <a:off x="-3073270" y="9171433"/>
            <a:ext cx="46566729" cy="2615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Voyage — PyTech</a:t>
            </a:r>
            <a:endParaRPr lang="en-US" sz="800" dirty="0"/>
          </a:p>
        </p:txBody>
      </p:sp>
      <p:sp>
        <p:nvSpPr>
          <p:cNvPr id="74" name="Shape 0">
            <a:extLst>
              <a:ext uri="{FF2B5EF4-FFF2-40B4-BE49-F238E27FC236}">
                <a16:creationId xmlns:a16="http://schemas.microsoft.com/office/drawing/2014/main" id="{F3187F6D-49AE-319E-54E1-7102E1333825}"/>
              </a:ext>
            </a:extLst>
          </p:cNvPr>
          <p:cNvSpPr/>
          <p:nvPr/>
        </p:nvSpPr>
        <p:spPr>
          <a:xfrm>
            <a:off x="23939418" y="-2420461"/>
            <a:ext cx="30297120" cy="21129041"/>
          </a:xfrm>
          <a:prstGeom prst="ellipse">
            <a:avLst/>
          </a:prstGeom>
          <a:solidFill>
            <a:srgbClr val="3A2418">
              <a:alpha val="45000"/>
            </a:srgbClr>
          </a:solidFill>
          <a:ln w="12700">
            <a:solidFill>
              <a:srgbClr val="3A241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5" name="Shape 1">
            <a:extLst>
              <a:ext uri="{FF2B5EF4-FFF2-40B4-BE49-F238E27FC236}">
                <a16:creationId xmlns:a16="http://schemas.microsoft.com/office/drawing/2014/main" id="{C1069E0A-D4F0-AC0C-4511-727E7EF3DC56}"/>
              </a:ext>
            </a:extLst>
          </p:cNvPr>
          <p:cNvSpPr/>
          <p:nvPr/>
        </p:nvSpPr>
        <p:spPr>
          <a:xfrm>
            <a:off x="-18580509" y="6243518"/>
            <a:ext cx="21640800" cy="15092172"/>
          </a:xfrm>
          <a:prstGeom prst="ellipse">
            <a:avLst/>
          </a:prstGeom>
          <a:solidFill>
            <a:srgbClr val="3A2418">
              <a:alpha val="45000"/>
            </a:srgbClr>
          </a:solidFill>
          <a:ln w="12700">
            <a:solidFill>
              <a:srgbClr val="3A241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6" name="Text 2">
            <a:extLst>
              <a:ext uri="{FF2B5EF4-FFF2-40B4-BE49-F238E27FC236}">
                <a16:creationId xmlns:a16="http://schemas.microsoft.com/office/drawing/2014/main" id="{851D49DD-F46B-781E-0EB4-E7068ABA7BE7}"/>
              </a:ext>
            </a:extLst>
          </p:cNvPr>
          <p:cNvSpPr/>
          <p:nvPr/>
        </p:nvSpPr>
        <p:spPr>
          <a:xfrm>
            <a:off x="-12223628" y="-11662395"/>
            <a:ext cx="38953440" cy="6942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Grazie.</a:t>
            </a:r>
            <a:endParaRPr lang="en-US" sz="6400" dirty="0"/>
          </a:p>
          <a:p>
            <a:pPr marL="0" indent="0" algn="ctr">
              <a:buNone/>
            </a:pPr>
            <a:r>
              <a:rPr lang="en-US" sz="6400" b="1" i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Domande?</a:t>
            </a:r>
            <a:endParaRPr lang="en-US" sz="6400" dirty="0"/>
          </a:p>
        </p:txBody>
      </p:sp>
      <p:sp>
        <p:nvSpPr>
          <p:cNvPr id="77" name="Shape 3">
            <a:extLst>
              <a:ext uri="{FF2B5EF4-FFF2-40B4-BE49-F238E27FC236}">
                <a16:creationId xmlns:a16="http://schemas.microsoft.com/office/drawing/2014/main" id="{17D597DA-0389-1C2D-8031-A0451BAB5B3B}"/>
              </a:ext>
            </a:extLst>
          </p:cNvPr>
          <p:cNvSpPr/>
          <p:nvPr/>
        </p:nvSpPr>
        <p:spPr>
          <a:xfrm>
            <a:off x="7706698" y="-12244479"/>
            <a:ext cx="6492240" cy="1509217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8" name="Text 4">
            <a:extLst>
              <a:ext uri="{FF2B5EF4-FFF2-40B4-BE49-F238E27FC236}">
                <a16:creationId xmlns:a16="http://schemas.microsoft.com/office/drawing/2014/main" id="{9A9B20C5-762F-EC5F-2F64-EF7CF4DA93A0}"/>
              </a:ext>
            </a:extLst>
          </p:cNvPr>
          <p:cNvSpPr/>
          <p:nvPr/>
        </p:nvSpPr>
        <p:spPr>
          <a:xfrm>
            <a:off x="12344400" y="-2945739"/>
            <a:ext cx="6492240" cy="15092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Gab</a:t>
            </a:r>
            <a:endParaRPr lang="en-US" sz="1400" dirty="0"/>
          </a:p>
        </p:txBody>
      </p:sp>
      <p:sp>
        <p:nvSpPr>
          <p:cNvPr id="79" name="Shape 5">
            <a:extLst>
              <a:ext uri="{FF2B5EF4-FFF2-40B4-BE49-F238E27FC236}">
                <a16:creationId xmlns:a16="http://schemas.microsoft.com/office/drawing/2014/main" id="{05107F5D-6944-6B5A-DBE3-064A9E795117}"/>
              </a:ext>
            </a:extLst>
          </p:cNvPr>
          <p:cNvSpPr/>
          <p:nvPr/>
        </p:nvSpPr>
        <p:spPr>
          <a:xfrm>
            <a:off x="-6876288" y="-8053607"/>
            <a:ext cx="6492240" cy="1509217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0" name="Text 6">
            <a:extLst>
              <a:ext uri="{FF2B5EF4-FFF2-40B4-BE49-F238E27FC236}">
                <a16:creationId xmlns:a16="http://schemas.microsoft.com/office/drawing/2014/main" id="{E3E114DB-5795-D71F-2D07-B16D82F5AF21}"/>
              </a:ext>
            </a:extLst>
          </p:cNvPr>
          <p:cNvSpPr/>
          <p:nvPr/>
        </p:nvSpPr>
        <p:spPr>
          <a:xfrm>
            <a:off x="14173200" y="-2945739"/>
            <a:ext cx="6492240" cy="15092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Nev</a:t>
            </a:r>
            <a:endParaRPr lang="en-US" sz="1400" dirty="0"/>
          </a:p>
        </p:txBody>
      </p:sp>
      <p:sp>
        <p:nvSpPr>
          <p:cNvPr id="81" name="Shape 7">
            <a:extLst>
              <a:ext uri="{FF2B5EF4-FFF2-40B4-BE49-F238E27FC236}">
                <a16:creationId xmlns:a16="http://schemas.microsoft.com/office/drawing/2014/main" id="{63378A43-E412-2CB0-3DF5-1C86617FA3F1}"/>
              </a:ext>
            </a:extLst>
          </p:cNvPr>
          <p:cNvSpPr/>
          <p:nvPr/>
        </p:nvSpPr>
        <p:spPr>
          <a:xfrm>
            <a:off x="-12792669" y="-1007821"/>
            <a:ext cx="6492240" cy="1509217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DC4816A3-71F0-C37A-F293-A2DBC245674A}"/>
              </a:ext>
            </a:extLst>
          </p:cNvPr>
          <p:cNvSpPr/>
          <p:nvPr/>
        </p:nvSpPr>
        <p:spPr>
          <a:xfrm>
            <a:off x="16002000" y="-2945739"/>
            <a:ext cx="6492240" cy="15092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Ruben</a:t>
            </a:r>
            <a:endParaRPr lang="en-US" sz="1400" dirty="0"/>
          </a:p>
        </p:txBody>
      </p:sp>
      <p:sp>
        <p:nvSpPr>
          <p:cNvPr id="83" name="Shape 9">
            <a:extLst>
              <a:ext uri="{FF2B5EF4-FFF2-40B4-BE49-F238E27FC236}">
                <a16:creationId xmlns:a16="http://schemas.microsoft.com/office/drawing/2014/main" id="{B2E09DC8-6778-F212-7137-85A77218ECEF}"/>
              </a:ext>
            </a:extLst>
          </p:cNvPr>
          <p:cNvSpPr/>
          <p:nvPr/>
        </p:nvSpPr>
        <p:spPr>
          <a:xfrm>
            <a:off x="11811525" y="12331021"/>
            <a:ext cx="6492240" cy="1509217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4" name="Text 10">
            <a:extLst>
              <a:ext uri="{FF2B5EF4-FFF2-40B4-BE49-F238E27FC236}">
                <a16:creationId xmlns:a16="http://schemas.microsoft.com/office/drawing/2014/main" id="{3A5245B0-94E7-E1CB-DB5A-5F8D16E8CB1C}"/>
              </a:ext>
            </a:extLst>
          </p:cNvPr>
          <p:cNvSpPr/>
          <p:nvPr/>
        </p:nvSpPr>
        <p:spPr>
          <a:xfrm>
            <a:off x="17830800" y="-2945739"/>
            <a:ext cx="6492240" cy="15092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Lollo</a:t>
            </a:r>
            <a:endParaRPr lang="en-US" sz="1400" dirty="0"/>
          </a:p>
        </p:txBody>
      </p:sp>
      <p:sp>
        <p:nvSpPr>
          <p:cNvPr id="85" name="Text 11">
            <a:extLst>
              <a:ext uri="{FF2B5EF4-FFF2-40B4-BE49-F238E27FC236}">
                <a16:creationId xmlns:a16="http://schemas.microsoft.com/office/drawing/2014/main" id="{6D405AFB-D943-8038-A206-D13B2B0A0805}"/>
              </a:ext>
            </a:extLst>
          </p:cNvPr>
          <p:cNvSpPr/>
          <p:nvPr/>
        </p:nvSpPr>
        <p:spPr>
          <a:xfrm>
            <a:off x="11247120" y="-1367375"/>
            <a:ext cx="43281600" cy="114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Voyage  ·  Progettato &amp; Sviluppato da PyTech: G. Rossi, N. Singh, L. Veneruzzo, R. Ranghiuc</a:t>
            </a:r>
            <a:endParaRPr lang="en-US" sz="800" dirty="0"/>
          </a:p>
        </p:txBody>
      </p:sp>
      <p:sp>
        <p:nvSpPr>
          <p:cNvPr id="86" name="Shape 0">
            <a:extLst>
              <a:ext uri="{FF2B5EF4-FFF2-40B4-BE49-F238E27FC236}">
                <a16:creationId xmlns:a16="http://schemas.microsoft.com/office/drawing/2014/main" id="{1198EEEF-9DA7-380B-8553-3EDCFC1A0BA3}"/>
              </a:ext>
            </a:extLst>
          </p:cNvPr>
          <p:cNvSpPr/>
          <p:nvPr/>
        </p:nvSpPr>
        <p:spPr>
          <a:xfrm>
            <a:off x="-16995648" y="-12760938"/>
            <a:ext cx="10119360" cy="9141438"/>
          </a:xfrm>
          <a:prstGeom prst="ellipse">
            <a:avLst/>
          </a:prstGeom>
          <a:solidFill>
            <a:srgbClr val="3A2418">
              <a:alpha val="45000"/>
            </a:srgbClr>
          </a:solidFill>
          <a:ln w="12700">
            <a:solidFill>
              <a:srgbClr val="3A241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7" name="Shape 1">
            <a:extLst>
              <a:ext uri="{FF2B5EF4-FFF2-40B4-BE49-F238E27FC236}">
                <a16:creationId xmlns:a16="http://schemas.microsoft.com/office/drawing/2014/main" id="{7F0C47CB-F0E8-4FEA-ACAC-1A921BAF5FB8}"/>
              </a:ext>
            </a:extLst>
          </p:cNvPr>
          <p:cNvSpPr/>
          <p:nvPr/>
        </p:nvSpPr>
        <p:spPr>
          <a:xfrm>
            <a:off x="11055308" y="6484871"/>
            <a:ext cx="6128217" cy="5846149"/>
          </a:xfrm>
          <a:prstGeom prst="ellipse">
            <a:avLst/>
          </a:prstGeom>
          <a:solidFill>
            <a:srgbClr val="3A2418">
              <a:alpha val="45000"/>
            </a:srgbClr>
          </a:solidFill>
          <a:ln w="12700">
            <a:solidFill>
              <a:srgbClr val="3A241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8" name="Text 2">
            <a:extLst>
              <a:ext uri="{FF2B5EF4-FFF2-40B4-BE49-F238E27FC236}">
                <a16:creationId xmlns:a16="http://schemas.microsoft.com/office/drawing/2014/main" id="{9ABD16C5-7DF7-5697-0538-6516C8EE8E80}"/>
              </a:ext>
            </a:extLst>
          </p:cNvPr>
          <p:cNvSpPr/>
          <p:nvPr/>
        </p:nvSpPr>
        <p:spPr>
          <a:xfrm>
            <a:off x="26601420" y="-10063458"/>
            <a:ext cx="8229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Grazie.</a:t>
            </a:r>
            <a:endParaRPr lang="en-US" sz="6400" dirty="0"/>
          </a:p>
          <a:p>
            <a:pPr marL="0" indent="0" algn="ctr">
              <a:buNone/>
            </a:pPr>
            <a:r>
              <a:rPr lang="en-US" sz="6400" b="1" i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Domande?</a:t>
            </a:r>
            <a:endParaRPr lang="en-US" sz="6400" dirty="0"/>
          </a:p>
        </p:txBody>
      </p:sp>
      <p:sp>
        <p:nvSpPr>
          <p:cNvPr id="89" name="Shape 3">
            <a:extLst>
              <a:ext uri="{FF2B5EF4-FFF2-40B4-BE49-F238E27FC236}">
                <a16:creationId xmlns:a16="http://schemas.microsoft.com/office/drawing/2014/main" id="{47A11002-19E5-B62A-0BC4-1F1969ED043B}"/>
              </a:ext>
            </a:extLst>
          </p:cNvPr>
          <p:cNvSpPr/>
          <p:nvPr/>
        </p:nvSpPr>
        <p:spPr>
          <a:xfrm>
            <a:off x="-13830243" y="5422213"/>
            <a:ext cx="2560320" cy="3217147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0" name="Text 4">
            <a:extLst>
              <a:ext uri="{FF2B5EF4-FFF2-40B4-BE49-F238E27FC236}">
                <a16:creationId xmlns:a16="http://schemas.microsoft.com/office/drawing/2014/main" id="{6595CAF4-F452-FFA0-D665-0B1C8977A8EF}"/>
              </a:ext>
            </a:extLst>
          </p:cNvPr>
          <p:cNvSpPr/>
          <p:nvPr/>
        </p:nvSpPr>
        <p:spPr>
          <a:xfrm>
            <a:off x="-13830243" y="5422213"/>
            <a:ext cx="2560320" cy="32171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Gab</a:t>
            </a:r>
            <a:endParaRPr lang="en-US" sz="1400" dirty="0"/>
          </a:p>
        </p:txBody>
      </p:sp>
      <p:sp>
        <p:nvSpPr>
          <p:cNvPr id="91" name="Shape 5">
            <a:extLst>
              <a:ext uri="{FF2B5EF4-FFF2-40B4-BE49-F238E27FC236}">
                <a16:creationId xmlns:a16="http://schemas.microsoft.com/office/drawing/2014/main" id="{AEE59AB5-19F2-02ED-1B79-FB7F78FA6F8D}"/>
              </a:ext>
            </a:extLst>
          </p:cNvPr>
          <p:cNvSpPr/>
          <p:nvPr/>
        </p:nvSpPr>
        <p:spPr>
          <a:xfrm>
            <a:off x="-12001443" y="5422213"/>
            <a:ext cx="2560320" cy="3217147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2" name="Text 6">
            <a:extLst>
              <a:ext uri="{FF2B5EF4-FFF2-40B4-BE49-F238E27FC236}">
                <a16:creationId xmlns:a16="http://schemas.microsoft.com/office/drawing/2014/main" id="{F4152B82-29CD-FD69-2FCE-87252BD2DE7A}"/>
              </a:ext>
            </a:extLst>
          </p:cNvPr>
          <p:cNvSpPr/>
          <p:nvPr/>
        </p:nvSpPr>
        <p:spPr>
          <a:xfrm>
            <a:off x="-12001443" y="5422213"/>
            <a:ext cx="2560320" cy="32171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Nev</a:t>
            </a:r>
            <a:endParaRPr lang="en-US" sz="1400" dirty="0"/>
          </a:p>
        </p:txBody>
      </p:sp>
      <p:sp>
        <p:nvSpPr>
          <p:cNvPr id="93" name="Shape 7">
            <a:extLst>
              <a:ext uri="{FF2B5EF4-FFF2-40B4-BE49-F238E27FC236}">
                <a16:creationId xmlns:a16="http://schemas.microsoft.com/office/drawing/2014/main" id="{A37DCA0F-1CD2-7564-59DD-EF804C8AF3DC}"/>
              </a:ext>
            </a:extLst>
          </p:cNvPr>
          <p:cNvSpPr/>
          <p:nvPr/>
        </p:nvSpPr>
        <p:spPr>
          <a:xfrm>
            <a:off x="-10172643" y="5422213"/>
            <a:ext cx="2560320" cy="3217147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4" name="Text 8">
            <a:extLst>
              <a:ext uri="{FF2B5EF4-FFF2-40B4-BE49-F238E27FC236}">
                <a16:creationId xmlns:a16="http://schemas.microsoft.com/office/drawing/2014/main" id="{5783BB93-5630-46BC-3CB3-CC6289CB67C0}"/>
              </a:ext>
            </a:extLst>
          </p:cNvPr>
          <p:cNvSpPr/>
          <p:nvPr/>
        </p:nvSpPr>
        <p:spPr>
          <a:xfrm>
            <a:off x="-10172643" y="5422213"/>
            <a:ext cx="2560320" cy="32171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Ruben</a:t>
            </a:r>
            <a:endParaRPr lang="en-US" sz="1400" dirty="0"/>
          </a:p>
        </p:txBody>
      </p:sp>
      <p:sp>
        <p:nvSpPr>
          <p:cNvPr id="95" name="Shape 9">
            <a:extLst>
              <a:ext uri="{FF2B5EF4-FFF2-40B4-BE49-F238E27FC236}">
                <a16:creationId xmlns:a16="http://schemas.microsoft.com/office/drawing/2014/main" id="{F6AF6DC4-FEF5-28AD-F633-220BE53415C0}"/>
              </a:ext>
            </a:extLst>
          </p:cNvPr>
          <p:cNvSpPr/>
          <p:nvPr/>
        </p:nvSpPr>
        <p:spPr>
          <a:xfrm>
            <a:off x="-8343843" y="5422213"/>
            <a:ext cx="2560320" cy="3217147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6" name="Text 10">
            <a:extLst>
              <a:ext uri="{FF2B5EF4-FFF2-40B4-BE49-F238E27FC236}">
                <a16:creationId xmlns:a16="http://schemas.microsoft.com/office/drawing/2014/main" id="{C586FA04-76A6-E971-6CCC-B9415AAC5C6C}"/>
              </a:ext>
            </a:extLst>
          </p:cNvPr>
          <p:cNvSpPr/>
          <p:nvPr/>
        </p:nvSpPr>
        <p:spPr>
          <a:xfrm>
            <a:off x="-8343843" y="5422213"/>
            <a:ext cx="2560320" cy="32171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Lollo</a:t>
            </a:r>
            <a:endParaRPr lang="en-US" sz="1400" dirty="0"/>
          </a:p>
        </p:txBody>
      </p:sp>
      <p:sp>
        <p:nvSpPr>
          <p:cNvPr id="97" name="Text 11">
            <a:extLst>
              <a:ext uri="{FF2B5EF4-FFF2-40B4-BE49-F238E27FC236}">
                <a16:creationId xmlns:a16="http://schemas.microsoft.com/office/drawing/2014/main" id="{EAD2DE0A-E964-5826-6B94-092A032B401D}"/>
              </a:ext>
            </a:extLst>
          </p:cNvPr>
          <p:cNvSpPr/>
          <p:nvPr/>
        </p:nvSpPr>
        <p:spPr>
          <a:xfrm>
            <a:off x="-14927523" y="7410480"/>
            <a:ext cx="17068800" cy="2445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Voyage  ·  Progettato &amp; Sviluppato da PyTech: G. Rossi, N. Singh, L. Veneruzzo, R. Ranghiuc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9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6400800" cy="6400800"/>
          </a:xfrm>
          <a:prstGeom prst="ellipse">
            <a:avLst/>
          </a:prstGeom>
          <a:solidFill>
            <a:srgbClr val="3A2418">
              <a:alpha val="45000"/>
            </a:srgbClr>
          </a:solidFill>
          <a:ln w="12700">
            <a:solidFill>
              <a:srgbClr val="3A241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5486400" y="1371600"/>
            <a:ext cx="4572000" cy="4572000"/>
          </a:xfrm>
          <a:prstGeom prst="ellipse">
            <a:avLst/>
          </a:prstGeom>
          <a:solidFill>
            <a:srgbClr val="3A2418">
              <a:alpha val="45000"/>
            </a:srgbClr>
          </a:solidFill>
          <a:ln w="12700">
            <a:solidFill>
              <a:srgbClr val="3A241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Grazie.</a:t>
            </a:r>
            <a:endParaRPr lang="en-US" sz="6400" dirty="0"/>
          </a:p>
          <a:p>
            <a:pPr marL="0" indent="0" algn="ctr">
              <a:buNone/>
            </a:pPr>
            <a:r>
              <a:rPr lang="en-US" sz="6400" b="1" i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Domande?</a:t>
            </a:r>
            <a:endParaRPr lang="en-US" sz="6400" dirty="0"/>
          </a:p>
        </p:txBody>
      </p:sp>
      <p:sp>
        <p:nvSpPr>
          <p:cNvPr id="5" name="Shape 3"/>
          <p:cNvSpPr/>
          <p:nvPr/>
        </p:nvSpPr>
        <p:spPr>
          <a:xfrm>
            <a:off x="1097280" y="3474720"/>
            <a:ext cx="1371600" cy="457200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1097280" y="3474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Gab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926080" y="3474720"/>
            <a:ext cx="1371600" cy="457200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2926080" y="3474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Nev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3474720"/>
            <a:ext cx="1371600" cy="457200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754880" y="3474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0" y="3474720"/>
            <a:ext cx="1371600" cy="457200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6583680" y="3474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Lollo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0" y="480060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Voyage  ·  Progettato &amp; Sviluppato da PyTech: G. Rossi, N. Singh, L. Veneruzzo, R. Ranghiuc</a:t>
            </a:r>
            <a:endParaRPr lang="en-US" sz="800" dirty="0"/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C42044D8-D6CD-4392-AF67-61641F71F50C}"/>
              </a:ext>
            </a:extLst>
          </p:cNvPr>
          <p:cNvSpPr/>
          <p:nvPr/>
        </p:nvSpPr>
        <p:spPr>
          <a:xfrm>
            <a:off x="-4227195" y="10019980"/>
            <a:ext cx="27609800" cy="426482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Shape 1">
            <a:extLst>
              <a:ext uri="{FF2B5EF4-FFF2-40B4-BE49-F238E27FC236}">
                <a16:creationId xmlns:a16="http://schemas.microsoft.com/office/drawing/2014/main" id="{42F179D6-3D73-A3D7-8869-03109AC03C70}"/>
              </a:ext>
            </a:extLst>
          </p:cNvPr>
          <p:cNvSpPr/>
          <p:nvPr/>
        </p:nvSpPr>
        <p:spPr>
          <a:xfrm>
            <a:off x="3636645" y="10202860"/>
            <a:ext cx="3313176" cy="2274570"/>
          </a:xfrm>
          <a:prstGeom prst="rect">
            <a:avLst/>
          </a:prstGeom>
          <a:solidFill>
            <a:srgbClr val="C27A48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55C1D1FE-19EC-ACD5-0A30-2B56CAA356CC}"/>
              </a:ext>
            </a:extLst>
          </p:cNvPr>
          <p:cNvSpPr/>
          <p:nvPr/>
        </p:nvSpPr>
        <p:spPr>
          <a:xfrm>
            <a:off x="3636645" y="10202860"/>
            <a:ext cx="3313176" cy="2274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</a:t>
            </a:r>
            <a:endParaRPr lang="en-US" sz="1000" dirty="0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492E6CB7-1BCB-1A4E-12F7-110ADC3D8438}"/>
              </a:ext>
            </a:extLst>
          </p:cNvPr>
          <p:cNvSpPr/>
          <p:nvPr/>
        </p:nvSpPr>
        <p:spPr>
          <a:xfrm>
            <a:off x="-3769995" y="10276011"/>
            <a:ext cx="20707350" cy="2132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C27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 —  STRUCTURED DATA</a:t>
            </a:r>
            <a:endParaRPr lang="en-US" sz="850" dirty="0"/>
          </a:p>
        </p:txBody>
      </p:sp>
      <p:sp>
        <p:nvSpPr>
          <p:cNvPr id="18" name="Text 4">
            <a:extLst>
              <a:ext uri="{FF2B5EF4-FFF2-40B4-BE49-F238E27FC236}">
                <a16:creationId xmlns:a16="http://schemas.microsoft.com/office/drawing/2014/main" id="{13305A75-8FD7-A76A-9241-170570C3F2BC}"/>
              </a:ext>
            </a:extLst>
          </p:cNvPr>
          <p:cNvSpPr/>
          <p:nvPr/>
        </p:nvSpPr>
        <p:spPr>
          <a:xfrm>
            <a:off x="-661417" y="-11521440"/>
            <a:ext cx="8140773" cy="4960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FAQ </a:t>
            </a:r>
            <a:r>
              <a:rPr lang="en-US" sz="3200" b="1" i="1" dirty="0">
                <a:solidFill>
                  <a:srgbClr val="C27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Schema</a:t>
            </a:r>
            <a:endParaRPr lang="en-US" sz="3200" dirty="0"/>
          </a:p>
        </p:txBody>
      </p:sp>
      <p:sp>
        <p:nvSpPr>
          <p:cNvPr id="19" name="Shape 5">
            <a:extLst>
              <a:ext uri="{FF2B5EF4-FFF2-40B4-BE49-F238E27FC236}">
                <a16:creationId xmlns:a16="http://schemas.microsoft.com/office/drawing/2014/main" id="{0BF11127-77CF-64DE-4F7B-A6A016BEEBB2}"/>
              </a:ext>
            </a:extLst>
          </p:cNvPr>
          <p:cNvSpPr/>
          <p:nvPr/>
        </p:nvSpPr>
        <p:spPr>
          <a:xfrm>
            <a:off x="-661417" y="-10652760"/>
            <a:ext cx="12211159" cy="6510814"/>
          </a:xfrm>
          <a:prstGeom prst="rect">
            <a:avLst/>
          </a:prstGeom>
          <a:solidFill>
            <a:srgbClr val="3A2418"/>
          </a:solidFill>
          <a:ln w="19050">
            <a:solidFill>
              <a:srgbClr val="C27A4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7A90F5B9-AA00-D73E-0C06-11BEBDD1FC5E}"/>
              </a:ext>
            </a:extLst>
          </p:cNvPr>
          <p:cNvSpPr/>
          <p:nvPr/>
        </p:nvSpPr>
        <p:spPr>
          <a:xfrm>
            <a:off x="-661416" y="-10652760"/>
            <a:ext cx="94976" cy="6510814"/>
          </a:xfrm>
          <a:prstGeom prst="rect">
            <a:avLst/>
          </a:prstGeom>
          <a:solidFill>
            <a:srgbClr val="C27A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D4387CDC-36C8-6A33-0300-1BE7F685551F}"/>
              </a:ext>
            </a:extLst>
          </p:cNvPr>
          <p:cNvSpPr/>
          <p:nvPr/>
        </p:nvSpPr>
        <p:spPr>
          <a:xfrm>
            <a:off x="-460249" y="-10543033"/>
            <a:ext cx="11668441" cy="21702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0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Questa sezione è strutturata con markup </a:t>
            </a:r>
            <a:endParaRPr lang="en-US" sz="1350" dirty="0"/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461097E0-5CFB-C239-C53E-B30AE5501F62}"/>
              </a:ext>
            </a:extLst>
          </p:cNvPr>
          <p:cNvSpPr/>
          <p:nvPr/>
        </p:nvSpPr>
        <p:spPr>
          <a:xfrm>
            <a:off x="-460248" y="-10195560"/>
            <a:ext cx="2238712" cy="1984248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C5837696-433E-2370-0B2F-9F2C1FBE00F4}"/>
              </a:ext>
            </a:extLst>
          </p:cNvPr>
          <p:cNvSpPr/>
          <p:nvPr/>
        </p:nvSpPr>
        <p:spPr>
          <a:xfrm>
            <a:off x="-460248" y="-10195560"/>
            <a:ext cx="223871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27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Schema</a:t>
            </a:r>
            <a:endParaRPr lang="en-US" sz="1200" dirty="0"/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4A1B4578-A7C4-C75A-5BAD-E89D6168B03F}"/>
              </a:ext>
            </a:extLst>
          </p:cNvPr>
          <p:cNvSpPr/>
          <p:nvPr/>
        </p:nvSpPr>
        <p:spPr>
          <a:xfrm>
            <a:off x="1094232" y="-10195560"/>
            <a:ext cx="9497568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0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massimizzare la visibilità nei risultati di ricerca Google.</a:t>
            </a:r>
            <a:endParaRPr lang="en-US" sz="1350" dirty="0"/>
          </a:p>
        </p:txBody>
      </p:sp>
      <p:sp>
        <p:nvSpPr>
          <p:cNvPr id="25" name="Shape 11">
            <a:extLst>
              <a:ext uri="{FF2B5EF4-FFF2-40B4-BE49-F238E27FC236}">
                <a16:creationId xmlns:a16="http://schemas.microsoft.com/office/drawing/2014/main" id="{691DDA4A-B1E1-999E-AB2B-504DD193AD45}"/>
              </a:ext>
            </a:extLst>
          </p:cNvPr>
          <p:cNvSpPr/>
          <p:nvPr/>
        </p:nvSpPr>
        <p:spPr>
          <a:xfrm>
            <a:off x="-8202706" y="6385241"/>
            <a:ext cx="5142245" cy="5590794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6" name="Text 12">
            <a:extLst>
              <a:ext uri="{FF2B5EF4-FFF2-40B4-BE49-F238E27FC236}">
                <a16:creationId xmlns:a16="http://schemas.microsoft.com/office/drawing/2014/main" id="{861FBE09-E227-288D-C49D-5673B7D99D67}"/>
              </a:ext>
            </a:extLst>
          </p:cNvPr>
          <p:cNvSpPr/>
          <p:nvPr/>
        </p:nvSpPr>
        <p:spPr>
          <a:xfrm>
            <a:off x="-8202706" y="6458392"/>
            <a:ext cx="5142245" cy="10938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🔖</a:t>
            </a:r>
            <a:endParaRPr lang="en-US" sz="2200" dirty="0"/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99FEE87F-2D69-B88F-B9A8-BA36319FA7A9}"/>
              </a:ext>
            </a:extLst>
          </p:cNvPr>
          <p:cNvSpPr/>
          <p:nvPr/>
        </p:nvSpPr>
        <p:spPr>
          <a:xfrm>
            <a:off x="-7798577" y="6933881"/>
            <a:ext cx="4600956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FAQPage Schema</a:t>
            </a:r>
            <a:endParaRPr lang="en-US" sz="1200" dirty="0"/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B33C6AD1-F086-87D3-DC3A-81F4B0E541BC}"/>
              </a:ext>
            </a:extLst>
          </p:cNvPr>
          <p:cNvSpPr/>
          <p:nvPr/>
        </p:nvSpPr>
        <p:spPr>
          <a:xfrm>
            <a:off x="-7798577" y="7281353"/>
            <a:ext cx="4600956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Markup JSON-LD nel &lt;head&gt;. Google lo legge e risponde direttamente nella SERP.</a:t>
            </a:r>
            <a:endParaRPr lang="en-US" sz="900" dirty="0"/>
          </a:p>
        </p:txBody>
      </p:sp>
      <p:sp>
        <p:nvSpPr>
          <p:cNvPr id="29" name="Shape 15">
            <a:extLst>
              <a:ext uri="{FF2B5EF4-FFF2-40B4-BE49-F238E27FC236}">
                <a16:creationId xmlns:a16="http://schemas.microsoft.com/office/drawing/2014/main" id="{AD0BE7A4-F70E-E139-E06B-49BA7CD462CC}"/>
              </a:ext>
            </a:extLst>
          </p:cNvPr>
          <p:cNvSpPr/>
          <p:nvPr/>
        </p:nvSpPr>
        <p:spPr>
          <a:xfrm>
            <a:off x="4006596" y="-8207883"/>
            <a:ext cx="5815046" cy="6677406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0" name="Text 16">
            <a:extLst>
              <a:ext uri="{FF2B5EF4-FFF2-40B4-BE49-F238E27FC236}">
                <a16:creationId xmlns:a16="http://schemas.microsoft.com/office/drawing/2014/main" id="{7CD345B6-B1BC-A000-4594-B7C8DB57A1B5}"/>
              </a:ext>
            </a:extLst>
          </p:cNvPr>
          <p:cNvSpPr/>
          <p:nvPr/>
        </p:nvSpPr>
        <p:spPr>
          <a:xfrm>
            <a:off x="4006596" y="-8134732"/>
            <a:ext cx="5815046" cy="1306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407230E7-B892-19A5-A8D8-CB3DB7425C43}"/>
              </a:ext>
            </a:extLst>
          </p:cNvPr>
          <p:cNvSpPr/>
          <p:nvPr/>
        </p:nvSpPr>
        <p:spPr>
          <a:xfrm>
            <a:off x="4143756" y="-7659243"/>
            <a:ext cx="5202936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Rich Snippet</a:t>
            </a:r>
            <a:endParaRPr lang="en-US" sz="1200" dirty="0"/>
          </a:p>
        </p:txBody>
      </p:sp>
      <p:sp>
        <p:nvSpPr>
          <p:cNvPr id="32" name="Text 18">
            <a:extLst>
              <a:ext uri="{FF2B5EF4-FFF2-40B4-BE49-F238E27FC236}">
                <a16:creationId xmlns:a16="http://schemas.microsoft.com/office/drawing/2014/main" id="{D3A3EC30-F8EB-C3C2-7856-3CFBE8BA952A}"/>
              </a:ext>
            </a:extLst>
          </p:cNvPr>
          <p:cNvSpPr/>
          <p:nvPr/>
        </p:nvSpPr>
        <p:spPr>
          <a:xfrm>
            <a:off x="4143756" y="-7311771"/>
            <a:ext cx="5202936" cy="3483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domande appaiono espanse nei risultati, aumentando il CTR senza ads.</a:t>
            </a:r>
            <a:endParaRPr lang="en-US" sz="900" dirty="0"/>
          </a:p>
        </p:txBody>
      </p:sp>
      <p:sp>
        <p:nvSpPr>
          <p:cNvPr id="33" name="Shape 19">
            <a:extLst>
              <a:ext uri="{FF2B5EF4-FFF2-40B4-BE49-F238E27FC236}">
                <a16:creationId xmlns:a16="http://schemas.microsoft.com/office/drawing/2014/main" id="{5D9B8466-8C7F-0E22-46C2-EB817A5F4A8E}"/>
              </a:ext>
            </a:extLst>
          </p:cNvPr>
          <p:cNvSpPr/>
          <p:nvPr/>
        </p:nvSpPr>
        <p:spPr>
          <a:xfrm>
            <a:off x="13200888" y="7145590"/>
            <a:ext cx="6554276" cy="4956937"/>
          </a:xfrm>
          <a:prstGeom prst="rect">
            <a:avLst/>
          </a:prstGeom>
          <a:solidFill>
            <a:srgbClr val="242220"/>
          </a:solidFill>
          <a:ln w="12700">
            <a:solidFill>
              <a:srgbClr val="2E2B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4" name="Text 20">
            <a:extLst>
              <a:ext uri="{FF2B5EF4-FFF2-40B4-BE49-F238E27FC236}">
                <a16:creationId xmlns:a16="http://schemas.microsoft.com/office/drawing/2014/main" id="{B6F4B22D-DF8B-7504-DF75-5BB39E85E58B}"/>
              </a:ext>
            </a:extLst>
          </p:cNvPr>
          <p:cNvSpPr/>
          <p:nvPr/>
        </p:nvSpPr>
        <p:spPr>
          <a:xfrm>
            <a:off x="13200888" y="7218743"/>
            <a:ext cx="6554276" cy="969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📐</a:t>
            </a:r>
            <a:endParaRPr lang="en-US" sz="2200" dirty="0"/>
          </a:p>
        </p:txBody>
      </p:sp>
      <p:sp>
        <p:nvSpPr>
          <p:cNvPr id="35" name="Text 21">
            <a:extLst>
              <a:ext uri="{FF2B5EF4-FFF2-40B4-BE49-F238E27FC236}">
                <a16:creationId xmlns:a16="http://schemas.microsoft.com/office/drawing/2014/main" id="{7CAD37D5-9F92-170C-E40D-67FB36824EEB}"/>
              </a:ext>
            </a:extLst>
          </p:cNvPr>
          <p:cNvSpPr/>
          <p:nvPr/>
        </p:nvSpPr>
        <p:spPr>
          <a:xfrm>
            <a:off x="13338048" y="7694230"/>
            <a:ext cx="5864352" cy="6465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itemprop HTML</a:t>
            </a:r>
            <a:endParaRPr lang="en-US" sz="1200" dirty="0"/>
          </a:p>
        </p:txBody>
      </p:sp>
      <p:sp>
        <p:nvSpPr>
          <p:cNvPr id="36" name="Text 22">
            <a:extLst>
              <a:ext uri="{FF2B5EF4-FFF2-40B4-BE49-F238E27FC236}">
                <a16:creationId xmlns:a16="http://schemas.microsoft.com/office/drawing/2014/main" id="{1D7C1DD7-9ECC-871B-94EF-3EB8882A0DF6}"/>
              </a:ext>
            </a:extLst>
          </p:cNvPr>
          <p:cNvSpPr/>
          <p:nvPr/>
        </p:nvSpPr>
        <p:spPr>
          <a:xfrm>
            <a:off x="13338048" y="8041703"/>
            <a:ext cx="5864352" cy="2586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Doppio livello: JSON-LD + Microdata per compatibilità con tutti i crawler.</a:t>
            </a:r>
            <a:endParaRPr lang="en-US" sz="900" dirty="0"/>
          </a:p>
        </p:txBody>
      </p:sp>
      <p:sp>
        <p:nvSpPr>
          <p:cNvPr id="37" name="Text 23">
            <a:extLst>
              <a:ext uri="{FF2B5EF4-FFF2-40B4-BE49-F238E27FC236}">
                <a16:creationId xmlns:a16="http://schemas.microsoft.com/office/drawing/2014/main" id="{140B7AC8-903E-D6A7-1EE4-4CB4EA07F7DE}"/>
              </a:ext>
            </a:extLst>
          </p:cNvPr>
          <p:cNvSpPr/>
          <p:nvPr/>
        </p:nvSpPr>
        <p:spPr>
          <a:xfrm>
            <a:off x="-1118616" y="-722376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Voyage — PyTech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1423</Words>
  <Application>Microsoft Office PowerPoint</Application>
  <PresentationFormat>Presentazione su schermo (16:9)</PresentationFormat>
  <Paragraphs>286</Paragraphs>
  <Slides>9</Slides>
  <Notes>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4" baseType="lpstr">
      <vt:lpstr>Arial</vt:lpstr>
      <vt:lpstr>Calibri</vt:lpstr>
      <vt:lpstr>Courier New</vt:lpstr>
      <vt:lpstr>Georgia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Pixel Voyage — Robert Doisneau</dc:title>
  <dc:subject>PptxGenJS Presentation</dc:subject>
  <dc:creator>PptxGenJS</dc:creator>
  <cp:lastModifiedBy>NAVPREET SINGH</cp:lastModifiedBy>
  <cp:revision>6</cp:revision>
  <dcterms:created xsi:type="dcterms:W3CDTF">2026-04-16T13:16:27Z</dcterms:created>
  <dcterms:modified xsi:type="dcterms:W3CDTF">2026-04-17T09:52:50Z</dcterms:modified>
</cp:coreProperties>
</file>