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92" autoAdjust="0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84" y="16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35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3A2418">
              <a:alpha val="60000"/>
            </a:srgbClr>
          </a:solidFill>
          <a:ln w="12700">
            <a:solidFill>
              <a:srgbClr val="3A241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VOYAGE  •  RETROSPETTIVA DELL'ANNO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Robert</a:t>
            </a:r>
            <a:endParaRPr lang="en-US" sz="7200" dirty="0"/>
          </a:p>
          <a:p>
            <a:pPr marL="0" indent="0">
              <a:buNone/>
            </a:pPr>
            <a:r>
              <a:rPr lang="en-US" sz="72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Doisneau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4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 &amp;  Blog / FAQ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4222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6576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Architect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Lead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4944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Lollo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49440" y="47365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Lead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914400"/>
            <a:ext cx="4572000" cy="4572000"/>
          </a:xfrm>
          <a:prstGeom prst="ellipse">
            <a:avLst/>
          </a:prstGeom>
          <a:solidFill>
            <a:srgbClr val="3A2418">
              <a:alpha val="50000"/>
            </a:srgbClr>
          </a:solidFill>
          <a:ln w="12700">
            <a:solidFill>
              <a:srgbClr val="3A241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0" y="160020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6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</a:t>
            </a:r>
            <a:endParaRPr lang="en-US" sz="5600" dirty="0"/>
          </a:p>
          <a:p>
            <a:pPr marL="0" indent="0" algn="r">
              <a:buNone/>
            </a:pPr>
            <a:r>
              <a:rPr lang="en-US" sz="56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solidFill>
            <a:srgbClr val="C27A4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Hero &amp; </a:t>
            </a:r>
            <a:r>
              <a:rPr lang="en-US" sz="34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Countdown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029200" cy="3291840"/>
          </a:xfrm>
          <a:prstGeom prst="rect">
            <a:avLst/>
          </a:prstGeom>
          <a:solidFill>
            <a:srgbClr val="2E2B28"/>
          </a:solidFill>
          <a:ln w="12700">
            <a:solidFill>
              <a:srgbClr val="24222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Hero + Countdown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463040"/>
            <a:ext cx="3017520" cy="100584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5760720" y="1463040"/>
            <a:ext cx="54864" cy="1005840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</a:rPr>
              <a:t>Title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1847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60720" y="2633472"/>
            <a:ext cx="3017520" cy="100584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5760720" y="2633472"/>
            <a:ext cx="54864" cy="1005840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943600" y="2724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Countdown live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3017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"Ultima chiamata per Parigi" · setInterval JS · target 6 apr 2026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0" y="3803904"/>
            <a:ext cx="3017520" cy="100584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5760720" y="3803904"/>
            <a:ext cx="54864" cy="1005840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943600" y="38953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 cards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1879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· Sede · Orari · Tariffe — floating card identiche alla home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Voyage — PyTech</a:t>
            </a:r>
            <a:endParaRPr lang="en-US" sz="800" dirty="0"/>
          </a:p>
        </p:txBody>
      </p:sp>
      <p:pic>
        <p:nvPicPr>
          <p:cNvPr id="22" name="Immagine 21">
            <a:extLst>
              <a:ext uri="{FF2B5EF4-FFF2-40B4-BE49-F238E27FC236}">
                <a16:creationId xmlns:a16="http://schemas.microsoft.com/office/drawing/2014/main" id="{0C8EEB84-F37D-4534-F6E5-0EA24D09F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46" y="1522295"/>
            <a:ext cx="4955459" cy="3168577"/>
          </a:xfrm>
          <a:prstGeom prst="rect">
            <a:avLst/>
          </a:prstGeom>
        </p:spPr>
      </p:pic>
      <p:sp>
        <p:nvSpPr>
          <p:cNvPr id="23" name="Text 14">
            <a:extLst>
              <a:ext uri="{FF2B5EF4-FFF2-40B4-BE49-F238E27FC236}">
                <a16:creationId xmlns:a16="http://schemas.microsoft.com/office/drawing/2014/main" id="{B37C3DC6-D262-D842-4A73-39CA2FBFDE94}"/>
              </a:ext>
            </a:extLst>
          </p:cNvPr>
          <p:cNvSpPr/>
          <p:nvPr/>
        </p:nvSpPr>
        <p:spPr>
          <a:xfrm>
            <a:off x="5943600" y="18836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"Ultima chiamata per Parigi" · setInterval JS · target 6 apr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solidFill>
            <a:srgbClr val="C27A4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 visitare </a:t>
            </a:r>
            <a:r>
              <a:rPr lang="en-US" sz="30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Biglietti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14884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66928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segreto del Bacio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46304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788920" y="1463040"/>
            <a:ext cx="214884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898648" y="1554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98648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Viaggio nella Parigi '50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6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214884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66928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" y="3035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 per tutti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2651760"/>
            <a:ext cx="2148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2788920" y="2651760"/>
            <a:ext cx="214884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2898648" y="27432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98648" y="3035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Sostieni Pordenone 2027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37760" y="1348740"/>
            <a:ext cx="3749040" cy="2423160"/>
          </a:xfrm>
          <a:prstGeom prst="rect">
            <a:avLst/>
          </a:prstGeom>
          <a:solidFill>
            <a:srgbClr val="2E2B28"/>
          </a:solidFill>
          <a:ln w="12700">
            <a:solidFill>
              <a:srgbClr val="3A363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937760" y="2331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Perché visitare 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1A1917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54864" cy="868680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640080" y="4041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Sezione Biglietti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3159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 12€  ·  Ridotto 9€  ·  Studenti 5€  ·  Gratuito  ·  ★ Combo "Sul Leggere" +5€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0" y="41330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CTA sticky 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Voyage — PyTech</a:t>
            </a:r>
            <a:endParaRPr lang="en-US" sz="800" dirty="0"/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FEE83B41-19F5-9BC8-3194-2E54CAE7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331" y="1408057"/>
            <a:ext cx="3665897" cy="2304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3A2418">
              <a:alpha val="55000"/>
            </a:srgbClr>
          </a:solidFill>
          <a:ln w="12700">
            <a:solidFill>
              <a:srgbClr val="3A241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 &amp;</a:t>
            </a:r>
            <a:endParaRPr lang="en-US" sz="5600" dirty="0"/>
          </a:p>
          <a:p>
            <a:pPr marL="0" indent="0">
              <a:buNone/>
            </a:pPr>
            <a:r>
              <a:rPr lang="en-US" sz="56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</a:t>
            </a:r>
            <a:endParaRPr lang="en-US" sz="5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solidFill>
            <a:srgbClr val="C27A4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&amp; FAQ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Area </a:t>
            </a:r>
            <a:r>
              <a:rPr lang="en-US" sz="32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Blog + Sidebar 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713232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5720" cy="713232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029200" y="1536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Articolo Featured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8105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2 colonne · immagine grande · badge "In evidenza"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3840480" cy="713232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45720" cy="713232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029200" y="23591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Griglia 2×3 Articoli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categorie SEO: storia, itinerari, famiglie, approfondimenti...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3108960"/>
            <a:ext cx="3840480" cy="713232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846320" y="3108960"/>
            <a:ext cx="45720" cy="713232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5029200" y="31821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Sidebar Sticky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456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· Info mostra · Tag cloud · Social CTA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3931920"/>
            <a:ext cx="3840480" cy="713232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846320" y="3931920"/>
            <a:ext cx="45720" cy="713232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5029200" y="40050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Contenuto long-tail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4279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articolo punta query specifiche ad alta intenzione d'acquisto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Voyage — PyTech</a:t>
            </a:r>
            <a:endParaRPr lang="en-US" sz="800" dirty="0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7319D268-B5F3-4E44-03D2-62604BA63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41" r="5242"/>
          <a:stretch>
            <a:fillRect/>
          </a:stretch>
        </p:blipFill>
        <p:spPr>
          <a:xfrm>
            <a:off x="507345" y="1517904"/>
            <a:ext cx="4018935" cy="31272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solidFill>
            <a:srgbClr val="C27A4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Lollo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 —  STRATEGIA DI CONTENUTO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il blog porta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 err="1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persone</a:t>
            </a:r>
            <a:r>
              <a:rPr lang="en-US" sz="28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28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 sito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 Long-tail SEO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Articoli mirati su query specifiche ad alta intenzione: 'storia bacio doisneau messo in scena', 'mostra Doisneau Pordenone 2026'.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91840" y="1600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429000" y="1709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📱  Leva Social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0391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Reels Instagram/TikTok + challenge 'Ricrea il Bacio a Pordenone' — user generated content.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60020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263640" y="1709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⏰  Leva Temporale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03911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6 aprile 2026. Urgenza reale: dopo quella data il Bacio torna negli archivi privati.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59436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Leva Economica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935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'Sul Leggere': Doisneau + Arthur + Furuya. 3×1 culturale che giustifica il viaggio da fuori.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3154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42900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🚂  Leva Logistica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5935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a piedi dalla stazione. Treni diretti da Venezia (&lt;1h). Sezione 'Non sei di Pordenone?' dedicata.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31546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DDD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6263640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9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Sunday Photowalk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59359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Piccoli gruppi guidati da un fotografo locale dopo la mostra. Networking + UGC social.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Voyage — PyTech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solidFill>
            <a:srgbClr val="C27A48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7863840" y="1828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AF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300" dirty="0">
                <a:solidFill>
                  <a:srgbClr val="C27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 —  STRUCTURED DATA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 </a:t>
            </a:r>
            <a:r>
              <a:rPr lang="en-US" sz="32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960120"/>
          </a:xfrm>
          <a:prstGeom prst="rect">
            <a:avLst/>
          </a:prstGeom>
          <a:solidFill>
            <a:srgbClr val="3A2418"/>
          </a:solidFill>
          <a:ln w="19050">
            <a:solidFill>
              <a:srgbClr val="C27A4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64008" cy="960120"/>
          </a:xfrm>
          <a:prstGeom prst="rect">
            <a:avLst/>
          </a:prstGeom>
          <a:solidFill>
            <a:srgbClr val="C27A48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658368" y="15727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Questa sezione è strutturata con markup 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920240"/>
            <a:ext cx="1508760" cy="292608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658368" y="1920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27A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FAQ Schema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12848" y="1920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massimizzare la visibilità nei risultati di ricerca Google.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2606040" cy="210312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94360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FAQPage Schema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4787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 JSON-LD nel &lt;head&gt;. Google lo legge e risponde direttamente nella SERP.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73552" y="2651760"/>
            <a:ext cx="2606040" cy="210312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3273552" y="2724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10712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 Snippet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10712" y="354787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domande appaiono espanse nei risultati, aumentando il CTR senza ads.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089904" y="2651760"/>
            <a:ext cx="2606040" cy="210312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089904" y="272491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27064" y="3200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itemprop HTML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27064" y="3547872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Doppio livello: JSON-LD + Microdata per compatibilità con tutti i crawler.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Voyage — PyTech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3A2418">
              <a:alpha val="45000"/>
            </a:srgbClr>
          </a:solidFill>
          <a:ln w="12700">
            <a:solidFill>
              <a:srgbClr val="3A241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5486400" y="1371600"/>
            <a:ext cx="4572000" cy="4572000"/>
          </a:xfrm>
          <a:prstGeom prst="ellipse">
            <a:avLst/>
          </a:prstGeom>
          <a:solidFill>
            <a:srgbClr val="3A2418">
              <a:alpha val="45000"/>
            </a:srgbClr>
          </a:solidFill>
          <a:ln w="12700">
            <a:solidFill>
              <a:srgbClr val="3A241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AF8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Grazie.</a:t>
            </a:r>
            <a:endParaRPr lang="en-US" sz="6400" dirty="0"/>
          </a:p>
          <a:p>
            <a:pPr marL="0" indent="0" algn="ctr">
              <a:buNone/>
            </a:pPr>
            <a:r>
              <a:rPr lang="en-US" sz="6400" b="1" i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Domande?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1097280" y="3474720"/>
            <a:ext cx="1371600" cy="45720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972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3474720"/>
            <a:ext cx="1371600" cy="45720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29260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3474720"/>
            <a:ext cx="1371600" cy="45720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548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Ruben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3474720"/>
            <a:ext cx="1371600" cy="457200"/>
          </a:xfrm>
          <a:prstGeom prst="rect">
            <a:avLst/>
          </a:prstGeom>
          <a:solidFill>
            <a:srgbClr val="242220"/>
          </a:solidFill>
          <a:ln w="12700">
            <a:solidFill>
              <a:srgbClr val="2E2B2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58368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7A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Lollo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A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Voyage  ·  Progettato &amp; Sviluppato da PyTech: G. Rossi, N. Singh, L. Veneruzzo, R. Ranghiuc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495</Words>
  <Application>Microsoft Office PowerPoint</Application>
  <PresentationFormat>Presentazione su schermo (16:9)</PresentationFormat>
  <Paragraphs>107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 Voyage — Robert Doisneau</dc:title>
  <dc:subject>PptxGenJS Presentation</dc:subject>
  <dc:creator>PptxGenJS</dc:creator>
  <cp:lastModifiedBy>NAVPREET SINGH</cp:lastModifiedBy>
  <cp:revision>4</cp:revision>
  <dcterms:created xsi:type="dcterms:W3CDTF">2026-04-16T13:16:27Z</dcterms:created>
  <dcterms:modified xsi:type="dcterms:W3CDTF">2026-04-17T08:47:39Z</dcterms:modified>
</cp:coreProperties>
</file>